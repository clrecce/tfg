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21"/>
  </p:notesMasterIdLst>
  <p:handoutMasterIdLst>
    <p:handoutMasterId r:id="rId22"/>
  </p:handoutMasterIdLst>
  <p:sldIdLst>
    <p:sldId id="269" r:id="rId5"/>
    <p:sldId id="268" r:id="rId6"/>
    <p:sldId id="267" r:id="rId7"/>
    <p:sldId id="277" r:id="rId8"/>
    <p:sldId id="288" r:id="rId9"/>
    <p:sldId id="289" r:id="rId10"/>
    <p:sldId id="290" r:id="rId11"/>
    <p:sldId id="278" r:id="rId12"/>
    <p:sldId id="272" r:id="rId13"/>
    <p:sldId id="291" r:id="rId14"/>
    <p:sldId id="283" r:id="rId15"/>
    <p:sldId id="274" r:id="rId16"/>
    <p:sldId id="292" r:id="rId17"/>
    <p:sldId id="279" r:id="rId18"/>
    <p:sldId id="293" r:id="rId19"/>
    <p:sldId id="285" r:id="rId2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67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3839">
          <p15:clr>
            <a:srgbClr val="A4A3A4"/>
          </p15:clr>
        </p15:guide>
        <p15:guide id="5" pos="815">
          <p15:clr>
            <a:srgbClr val="A4A3A4"/>
          </p15:clr>
        </p15:guide>
        <p15:guide id="6" pos="68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ndronportillo95@gmail.com" initials="l" lastIdx="1" clrIdx="0">
    <p:extLst>
      <p:ext uri="{19B8F6BF-5375-455C-9EA6-DF929625EA0E}">
        <p15:presenceInfo xmlns:p15="http://schemas.microsoft.com/office/powerpoint/2012/main" userId="02f5e125dd9d02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C7A3"/>
    <a:srgbClr val="F9F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96"/>
      </p:cViewPr>
      <p:guideLst>
        <p:guide orient="horz" pos="2160"/>
        <p:guide orient="horz" pos="367"/>
        <p:guide orient="horz" pos="3888"/>
        <p:guide pos="3839"/>
        <p:guide pos="815"/>
        <p:guide pos="686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8" d="100"/>
          <a:sy n="68" d="100"/>
        </p:scale>
        <p:origin x="-277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A0844-C266-46EC-A036-E1634F64C44A}" type="datetimeFigureOut">
              <a:rPr lang="es-AR"/>
              <a:t>18/6/2026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88AA-226D-4237-A99F-5C4B97F43BA8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3136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08BCD-7B2F-4BCE-87AF-5D67EFFE4D17}" type="datetimeFigureOut">
              <a:rPr lang="es-AR"/>
              <a:t>18/6/2026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A1353-EEA5-436B-AB14-1D84B195E669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067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0"/>
            <a:ext cx="12188823" cy="6172200"/>
          </a:xfrm>
          <a:prstGeom prst="rect">
            <a:avLst/>
          </a:prstGeom>
          <a:solidFill>
            <a:schemeClr val="accent1">
              <a:alpha val="50196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ound Single Corner Rectangle 7"/>
          <p:cNvSpPr/>
          <p:nvPr/>
        </p:nvSpPr>
        <p:spPr bwMode="ltGray">
          <a:xfrm rot="10800000" flipH="1" flipV="1">
            <a:off x="6926759" y="228598"/>
            <a:ext cx="5035054" cy="5715002"/>
          </a:xfrm>
          <a:prstGeom prst="round1Rect">
            <a:avLst>
              <a:gd name="adj" fmla="val 58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3"/>
            <a:ext cx="6926756" cy="6172197"/>
          </a:xfrm>
          <a:prstGeom prst="rect">
            <a:avLst/>
          </a:prstGeom>
          <a:solidFill>
            <a:schemeClr val="accent1">
              <a:lumMod val="75000"/>
              <a:alpha val="32157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013" y="1703718"/>
            <a:ext cx="5791200" cy="3733800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5014" y="3429000"/>
            <a:ext cx="4572000" cy="1905000"/>
          </a:xfr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88952" cy="6172200"/>
          </a:xfrm>
          <a:prstGeom prst="rect">
            <a:avLst/>
          </a:prstGeom>
          <a:solidFill>
            <a:schemeClr val="accent1">
              <a:alpha val="50196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3"/>
            <a:ext cx="5180012" cy="6172197"/>
          </a:xfrm>
          <a:prstGeom prst="rect">
            <a:avLst/>
          </a:prstGeom>
          <a:solidFill>
            <a:schemeClr val="accent1">
              <a:lumMod val="75000"/>
              <a:alpha val="32157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013" y="914400"/>
            <a:ext cx="4190999" cy="3886200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7799" y="4953000"/>
            <a:ext cx="4201213" cy="99059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180013" y="228600"/>
            <a:ext cx="6781800" cy="5715000"/>
          </a:xfrm>
          <a:prstGeom prst="round1Rect">
            <a:avLst>
              <a:gd name="adj" fmla="val 5636"/>
            </a:avLst>
          </a:prstGeom>
          <a:solidFill>
            <a:schemeClr val="bg2"/>
          </a:solidFill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s-ES"/>
              <a:t>Haga clic en el icono para agregar una imagen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713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876"/>
            <a:ext cx="12188952" cy="6477000"/>
          </a:xfrm>
          <a:prstGeom prst="rect">
            <a:avLst/>
          </a:prstGeom>
          <a:solidFill>
            <a:schemeClr val="accent1">
              <a:alpha val="50196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1144" y="0"/>
            <a:ext cx="4737681" cy="6477000"/>
          </a:xfrm>
          <a:prstGeom prst="rect">
            <a:avLst/>
          </a:prstGeom>
          <a:solidFill>
            <a:schemeClr val="accent1">
              <a:lumMod val="75000"/>
              <a:alpha val="32157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ound Single Corner Rectangle 9"/>
          <p:cNvSpPr/>
          <p:nvPr/>
        </p:nvSpPr>
        <p:spPr bwMode="ltGray">
          <a:xfrm rot="10800000" flipV="1">
            <a:off x="219973" y="234351"/>
            <a:ext cx="7237410" cy="6014049"/>
          </a:xfrm>
          <a:prstGeom prst="round1Rect">
            <a:avLst>
              <a:gd name="adj" fmla="val 581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477000"/>
            <a:ext cx="12188952" cy="381000"/>
          </a:xfrm>
          <a:prstGeom prst="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685800"/>
            <a:ext cx="5638801" cy="4191000"/>
          </a:xfrm>
        </p:spPr>
        <p:txBody>
          <a:bodyPr anchor="b">
            <a:noAutofit/>
          </a:bodyPr>
          <a:lstStyle>
            <a:lvl1pPr algn="l">
              <a:defRPr sz="5400" b="0" cap="none" baseline="0"/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5029200"/>
            <a:ext cx="5638800" cy="9144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3" y="1981200"/>
            <a:ext cx="4648201" cy="4191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371600">
              <a:defRPr sz="1600"/>
            </a:lvl6pPr>
            <a:lvl7pPr marL="1600200">
              <a:defRPr sz="1600"/>
            </a:lvl7pPr>
            <a:lvl8pPr marL="1828800">
              <a:defRPr sz="1600"/>
            </a:lvl8pPr>
            <a:lvl9pPr marL="2057400"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1" y="1981200"/>
            <a:ext cx="4648203" cy="4191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143000">
              <a:defRPr sz="1600"/>
            </a:lvl5pPr>
            <a:lvl6pPr marL="1371600">
              <a:defRPr sz="1600"/>
            </a:lvl6pPr>
            <a:lvl7pPr marL="1600200">
              <a:defRPr sz="1600"/>
            </a:lvl7pPr>
            <a:lvl8pPr marL="1828800">
              <a:defRPr sz="1600"/>
            </a:lvl8pPr>
            <a:lvl9pPr marL="2057400"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981200"/>
            <a:ext cx="4645152" cy="7620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819400"/>
            <a:ext cx="4645152" cy="3352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371600">
              <a:defRPr sz="1600"/>
            </a:lvl6pPr>
            <a:lvl7pPr marL="1600200">
              <a:defRPr sz="1600"/>
            </a:lvl7pPr>
            <a:lvl8pPr marL="1828800">
              <a:defRPr sz="1600" baseline="0"/>
            </a:lvl8pPr>
            <a:lvl9pPr marL="2057400">
              <a:defRPr sz="1600" baseline="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2" y="1981200"/>
            <a:ext cx="4645152" cy="7620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2" y="2819400"/>
            <a:ext cx="4645152" cy="3352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143000">
              <a:defRPr sz="1600"/>
            </a:lvl5pPr>
            <a:lvl6pPr marL="1371600">
              <a:defRPr sz="1600"/>
            </a:lvl6pPr>
            <a:lvl7pPr marL="1600200">
              <a:defRPr sz="1600"/>
            </a:lvl7pPr>
            <a:lvl8pPr marL="1828800">
              <a:defRPr sz="1600"/>
            </a:lvl8pPr>
            <a:lvl9pPr marL="2057400"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" y="0"/>
            <a:ext cx="12188952" cy="6172200"/>
          </a:xfrm>
          <a:prstGeom prst="rect">
            <a:avLst/>
          </a:prstGeom>
          <a:solidFill>
            <a:schemeClr val="accent1">
              <a:alpha val="50196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10" name="Round Single Corner Rectangle 9"/>
          <p:cNvSpPr/>
          <p:nvPr/>
        </p:nvSpPr>
        <p:spPr bwMode="ltGray">
          <a:xfrm rot="10800000" flipH="1" flipV="1">
            <a:off x="4722814" y="234351"/>
            <a:ext cx="7237538" cy="5709249"/>
          </a:xfrm>
          <a:prstGeom prst="round1Rect">
            <a:avLst>
              <a:gd name="adj" fmla="val 581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"/>
            <a:ext cx="4722811" cy="6172200"/>
          </a:xfrm>
          <a:prstGeom prst="rect">
            <a:avLst/>
          </a:prstGeom>
          <a:solidFill>
            <a:schemeClr val="accent1">
              <a:lumMod val="75000"/>
              <a:alpha val="32157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197" y="234351"/>
            <a:ext cx="3773863" cy="4642450"/>
          </a:xfrm>
        </p:spPr>
        <p:txBody>
          <a:bodyPr anchor="b">
            <a:normAutofit/>
          </a:bodyPr>
          <a:lstStyle>
            <a:lvl1pPr algn="l">
              <a:defRPr sz="4400" b="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983" y="5029199"/>
            <a:ext cx="3782586" cy="91440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5139" y="465285"/>
            <a:ext cx="6786614" cy="524971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88952" cy="6172200"/>
          </a:xfrm>
          <a:prstGeom prst="rect">
            <a:avLst/>
          </a:prstGeom>
          <a:solidFill>
            <a:schemeClr val="accent1">
              <a:alpha val="50196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66013" y="3"/>
            <a:ext cx="4722812" cy="6172197"/>
          </a:xfrm>
          <a:prstGeom prst="rect">
            <a:avLst/>
          </a:prstGeom>
          <a:solidFill>
            <a:schemeClr val="accent1">
              <a:lumMod val="75000"/>
              <a:alpha val="32157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3151" y="234351"/>
            <a:ext cx="3773863" cy="46424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sz="44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pPr lvl="0">
              <a:lnSpc>
                <a:spcPct val="80000"/>
              </a:lnSpc>
            </a:pPr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2936" y="5029200"/>
            <a:ext cx="3782586" cy="914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4917-CE56-4645-8050-1555FA0B180B}" type="datetimeFigureOut">
              <a:rPr lang="es-AR"/>
              <a:pPr/>
              <a:t>18/6/2026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24DA2-3CE4-45BB-9F6F-628A0CFBDBF9}" type="slidenum">
              <a:rPr/>
              <a:pPr/>
              <a:t>‹Nº›</a:t>
            </a:fld>
            <a:endParaRPr/>
          </a:p>
        </p:txBody>
      </p:sp>
      <p:sp>
        <p:nvSpPr>
          <p:cNvPr id="21" name="Round Single Corner Rectangle 20"/>
          <p:cNvSpPr/>
          <p:nvPr/>
        </p:nvSpPr>
        <p:spPr bwMode="ltGray">
          <a:xfrm rot="10800000" flipV="1">
            <a:off x="227013" y="234351"/>
            <a:ext cx="7238999" cy="5709249"/>
          </a:xfrm>
          <a:prstGeom prst="round1Rect">
            <a:avLst>
              <a:gd name="adj" fmla="val 581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flipH="1">
            <a:off x="457198" y="465283"/>
            <a:ext cx="6780215" cy="5249717"/>
          </a:xfrm>
          <a:prstGeom prst="round1Rect">
            <a:avLst>
              <a:gd name="adj" fmla="val 4287"/>
            </a:avLst>
          </a:prstGeo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2158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371600">
              <a:defRPr/>
            </a:lvl6pPr>
            <a:lvl7pPr marL="1600200">
              <a:defRPr/>
            </a:lvl7pPr>
            <a:lvl8pPr marL="1828800">
              <a:defRPr baseline="0"/>
            </a:lvl8pPr>
            <a:lvl9pPr marL="2057400">
              <a:defRPr baseline="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3" y="582613"/>
            <a:ext cx="8183562" cy="558958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05974" y="582613"/>
            <a:ext cx="1951037" cy="558958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477000"/>
            <a:ext cx="11960352" cy="381000"/>
          </a:xfrm>
          <a:prstGeom prst="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960352" y="6477000"/>
            <a:ext cx="228473" cy="381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" y="0"/>
            <a:ext cx="12188825" cy="6477000"/>
          </a:xfrm>
          <a:prstGeom prst="rect">
            <a:avLst/>
          </a:prstGeom>
          <a:solidFill>
            <a:schemeClr val="accent1">
              <a:alpha val="50196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10" name="Round Single Corner Rectangle 9"/>
          <p:cNvSpPr/>
          <p:nvPr/>
        </p:nvSpPr>
        <p:spPr>
          <a:xfrm>
            <a:off x="0" y="228600"/>
            <a:ext cx="11961877" cy="6248400"/>
          </a:xfrm>
          <a:prstGeom prst="round1Rect">
            <a:avLst>
              <a:gd name="adj" fmla="val 458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563562"/>
            <a:ext cx="9601200" cy="1189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981200"/>
            <a:ext cx="9601202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3811" y="6248400"/>
            <a:ext cx="1091459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E36636D-D922-432D-A958-524484B5923D}" type="datetimeFigureOut">
              <a:rPr lang="es-AR"/>
              <a:pPr/>
              <a:t>18/6/2026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3813" y="6248400"/>
            <a:ext cx="7467598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1" y="6248400"/>
            <a:ext cx="762003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/>
              <a:p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3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33" r:id="rId10"/>
    <p:sldLayoutId id="2147483730" r:id="rId11"/>
    <p:sldLayoutId id="214748373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9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vgsilh.com/es/image/304969.html" TargetMode="Externa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230316" y="548680"/>
            <a:ext cx="6840760" cy="2225756"/>
          </a:xfrm>
          <a:effectLst/>
        </p:spPr>
        <p:txBody>
          <a:bodyPr>
            <a:normAutofit/>
          </a:bodyPr>
          <a:lstStyle/>
          <a:p>
            <a:pPr algn="ctr" defTabSz="914400">
              <a:lnSpc>
                <a:spcPct val="80000"/>
              </a:lnSpc>
              <a:spcBef>
                <a:spcPts val="0"/>
              </a:spcBef>
              <a:buNone/>
            </a:pPr>
            <a:r>
              <a:rPr lang="es-ES" sz="3200" b="1" i="0" noProof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Plataforma low-code con inteligencia artificial para la medición y optimización de la huella de carbono en entornos informáticos</a:t>
            </a:r>
            <a:endParaRPr lang="es-ES" sz="5400" b="1" i="0" noProof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7749" y="260648"/>
            <a:ext cx="4896543" cy="5616624"/>
          </a:xfrm>
        </p:spPr>
        <p:txBody>
          <a:bodyPr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s-ES" sz="2400" i="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Trabajo Final de Grado</a:t>
            </a:r>
          </a:p>
          <a:p>
            <a:pPr marL="0" indent="0" algn="ctr">
              <a:spcBef>
                <a:spcPts val="0"/>
              </a:spcBef>
              <a:buNone/>
            </a:pPr>
            <a:endParaRPr lang="es-ES" sz="2400" noProof="1">
              <a:solidFill>
                <a:srgbClr val="F9F5E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s-ES" sz="2400" i="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Prototipado Tecnológico</a:t>
            </a:r>
          </a:p>
          <a:p>
            <a:pPr marL="0" indent="0" algn="ctr">
              <a:spcBef>
                <a:spcPts val="0"/>
              </a:spcBef>
              <a:buNone/>
            </a:pPr>
            <a:endParaRPr lang="es-ES" sz="2400" noProof="1">
              <a:solidFill>
                <a:srgbClr val="F9F5E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Licenciatura en Informática</a:t>
            </a:r>
          </a:p>
          <a:p>
            <a:pPr marL="0" indent="0" algn="ctr">
              <a:spcBef>
                <a:spcPts val="0"/>
              </a:spcBef>
              <a:buNone/>
            </a:pPr>
            <a:endParaRPr lang="es-ES" sz="2400" i="0" noProof="1">
              <a:solidFill>
                <a:srgbClr val="F9F5E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Carlos Lautaro Recce</a:t>
            </a:r>
          </a:p>
          <a:p>
            <a:pPr marL="0" indent="0" algn="ctr">
              <a:spcBef>
                <a:spcPts val="0"/>
              </a:spcBef>
              <a:buNone/>
            </a:pPr>
            <a:endParaRPr lang="es-ES" sz="2400" noProof="1">
              <a:solidFill>
                <a:srgbClr val="F9F5E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s-ES" sz="2400" i="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VINF013591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52E790A-EC4C-4876-9940-9357D0F2D637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432" y="2924944"/>
            <a:ext cx="4752528" cy="305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83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153B453-88FE-4369-B1EC-35AC574EF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779" y="220688"/>
            <a:ext cx="2736305" cy="648072"/>
          </a:xfrm>
          <a:effectLst/>
        </p:spPr>
        <p:txBody>
          <a:bodyPr anchor="ctr">
            <a:normAutofit/>
          </a:bodyPr>
          <a:lstStyle/>
          <a:p>
            <a:pPr defTabSz="914400">
              <a:lnSpc>
                <a:spcPct val="80000"/>
              </a:lnSpc>
              <a:spcBef>
                <a:spcPts val="0"/>
              </a:spcBef>
              <a:buNone/>
            </a:pPr>
            <a:r>
              <a:rPr lang="es-ES" sz="3200" b="1" i="0" noProof="1">
                <a:solidFill>
                  <a:schemeClr val="tx1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Presentación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662C99B-8017-4F54-B5ED-811831091C8E}"/>
              </a:ext>
            </a:extLst>
          </p:cNvPr>
          <p:cNvSpPr/>
          <p:nvPr/>
        </p:nvSpPr>
        <p:spPr>
          <a:xfrm>
            <a:off x="261763" y="220688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E15BA8B-35D6-4DBF-A127-6ADB2287E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771" y="2403241"/>
            <a:ext cx="4824536" cy="2016224"/>
          </a:xfrm>
        </p:spPr>
        <p:txBody>
          <a:bodyPr anchor="ctr">
            <a:normAutofit/>
          </a:bodyPr>
          <a:lstStyle/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i="0" noProof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Prototipado tecnológico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i="0" noProof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i="0" noProof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Plataforma de desarrollo</a:t>
            </a: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noProof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noProof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Empresa modelada: </a:t>
            </a:r>
            <a:r>
              <a:rPr lang="es-ES" b="1" noProof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EcoDev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CC4AB7A-6601-46A9-A579-B072E3F99220}"/>
              </a:ext>
            </a:extLst>
          </p:cNvPr>
          <p:cNvSpPr txBox="1">
            <a:spLocks/>
          </p:cNvSpPr>
          <p:nvPr/>
        </p:nvSpPr>
        <p:spPr>
          <a:xfrm>
            <a:off x="7246540" y="2511253"/>
            <a:ext cx="4248472" cy="1800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Ecológicamente eficiente</a:t>
            </a: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noProof="1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Sustentable</a:t>
            </a: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noProof="1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Sostenible</a:t>
            </a:r>
          </a:p>
        </p:txBody>
      </p:sp>
    </p:spTree>
    <p:extLst>
      <p:ext uri="{BB962C8B-B14F-4D97-AF65-F5344CB8AC3E}">
        <p14:creationId xmlns:p14="http://schemas.microsoft.com/office/powerpoint/2010/main" val="1085444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8101582E-8A24-4EFB-A1B7-3568A0CDFA40}"/>
              </a:ext>
            </a:extLst>
          </p:cNvPr>
          <p:cNvSpPr txBox="1">
            <a:spLocks/>
          </p:cNvSpPr>
          <p:nvPr/>
        </p:nvSpPr>
        <p:spPr>
          <a:xfrm>
            <a:off x="333772" y="414856"/>
            <a:ext cx="5976664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Introducción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AFF6618-AA20-48AC-BE4B-40CF1D339228}"/>
              </a:ext>
            </a:extLst>
          </p:cNvPr>
          <p:cNvSpPr/>
          <p:nvPr/>
        </p:nvSpPr>
        <p:spPr>
          <a:xfrm>
            <a:off x="189756" y="3938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BA616A-F861-4943-BC71-EE1A60945A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833"/>
          <a:stretch/>
        </p:blipFill>
        <p:spPr>
          <a:xfrm>
            <a:off x="3925500" y="825860"/>
            <a:ext cx="3924436" cy="5697760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34978A58-2C8F-40B9-A988-562F424AC690}"/>
              </a:ext>
            </a:extLst>
          </p:cNvPr>
          <p:cNvSpPr txBox="1">
            <a:spLocks/>
          </p:cNvSpPr>
          <p:nvPr/>
        </p:nvSpPr>
        <p:spPr>
          <a:xfrm>
            <a:off x="1064" y="1958465"/>
            <a:ext cx="3924436" cy="367240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Dióxido de carbono </a:t>
            </a:r>
            <a:r>
              <a:rPr lang="es-ES" sz="24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(CO2)</a:t>
            </a:r>
          </a:p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noProof="1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noProof="1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Huella de carbono </a:t>
            </a:r>
            <a:r>
              <a:rPr lang="es-ES" sz="24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 nuestro medio ambiente</a:t>
            </a:r>
            <a:endParaRPr lang="es-ES" sz="2400" b="1" noProof="1">
              <a:solidFill>
                <a:schemeClr val="accent1">
                  <a:lumMod val="75000"/>
                </a:schemeClr>
              </a:solidFill>
              <a:latin typeface="Perpetua" panose="02020502060401020303" pitchFamily="18" charset="0"/>
              <a:ea typeface="Roboto" panose="02000000000000000000" pitchFamily="2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7C4B293-2E56-454F-80AE-5309FF0E798E}"/>
              </a:ext>
            </a:extLst>
          </p:cNvPr>
          <p:cNvSpPr txBox="1">
            <a:spLocks/>
          </p:cNvSpPr>
          <p:nvPr/>
        </p:nvSpPr>
        <p:spPr>
          <a:xfrm>
            <a:off x="3920126" y="1962673"/>
            <a:ext cx="3924436" cy="34353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Ignorancia de las empresas en el gasto energético</a:t>
            </a:r>
          </a:p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noProof="1">
              <a:solidFill>
                <a:schemeClr val="accent4">
                  <a:lumMod val="40000"/>
                  <a:lumOff val="6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noProof="1">
              <a:solidFill>
                <a:srgbClr val="F9F5E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Sin datos o datos dispersos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E4BE31B-0327-49EA-A2DB-9F27B6FDBFA1}"/>
              </a:ext>
            </a:extLst>
          </p:cNvPr>
          <p:cNvSpPr txBox="1">
            <a:spLocks/>
          </p:cNvSpPr>
          <p:nvPr/>
        </p:nvSpPr>
        <p:spPr>
          <a:xfrm>
            <a:off x="549796" y="3501008"/>
            <a:ext cx="2998296" cy="116232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80000"/>
              </a:lnSpc>
              <a:spcBef>
                <a:spcPts val="0"/>
              </a:spcBef>
            </a:pPr>
            <a:endParaRPr lang="es-ES" sz="2400" b="1" noProof="1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7AEB45E1-7BDA-46BC-8A48-701BCE6146F3}"/>
              </a:ext>
            </a:extLst>
          </p:cNvPr>
          <p:cNvSpPr txBox="1">
            <a:spLocks/>
          </p:cNvSpPr>
          <p:nvPr/>
        </p:nvSpPr>
        <p:spPr>
          <a:xfrm>
            <a:off x="7855310" y="1958465"/>
            <a:ext cx="4071750" cy="367240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Green coding: </a:t>
            </a:r>
            <a:r>
              <a:rPr lang="es-ES" sz="24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desarrollo de softwares sostenibles y sustentables</a:t>
            </a:r>
            <a:endParaRPr lang="es-ES" sz="2400" b="1" noProof="1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noProof="1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noProof="1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ctr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Low-code:</a:t>
            </a:r>
            <a:r>
              <a:rPr lang="es-ES" sz="24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desarrollo de softwares con interfaces gráficas visuales</a:t>
            </a:r>
            <a:endParaRPr lang="es-ES" sz="2400" b="1" noProof="1">
              <a:solidFill>
                <a:schemeClr val="accent1">
                  <a:lumMod val="75000"/>
                </a:schemeClr>
              </a:solidFill>
              <a:latin typeface="Perpetua" panose="02020502060401020303" pitchFamily="18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171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B6861D7-A09A-42B9-AD71-E2A87C86C7DD}"/>
              </a:ext>
            </a:extLst>
          </p:cNvPr>
          <p:cNvSpPr txBox="1">
            <a:spLocks/>
          </p:cNvSpPr>
          <p:nvPr/>
        </p:nvSpPr>
        <p:spPr>
          <a:xfrm>
            <a:off x="405780" y="361764"/>
            <a:ext cx="5976664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Antecedentes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F19B215-77B9-4701-A7E3-91C7A899DADF}"/>
              </a:ext>
            </a:extLst>
          </p:cNvPr>
          <p:cNvSpPr/>
          <p:nvPr/>
        </p:nvSpPr>
        <p:spPr>
          <a:xfrm>
            <a:off x="189756" y="3938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920A158-C5B0-42E4-8D60-53060F46BC82}"/>
              </a:ext>
            </a:extLst>
          </p:cNvPr>
          <p:cNvCxnSpPr/>
          <p:nvPr/>
        </p:nvCxnSpPr>
        <p:spPr>
          <a:xfrm>
            <a:off x="765820" y="3861048"/>
            <a:ext cx="10153128" cy="0"/>
          </a:xfrm>
          <a:prstGeom prst="line">
            <a:avLst/>
          </a:prstGeom>
          <a:ln w="762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D4878EB7-12B2-466A-B66A-8D0D555D61BD}"/>
              </a:ext>
            </a:extLst>
          </p:cNvPr>
          <p:cNvSpPr/>
          <p:nvPr/>
        </p:nvSpPr>
        <p:spPr>
          <a:xfrm>
            <a:off x="981845" y="3717032"/>
            <a:ext cx="288032" cy="288032"/>
          </a:xfrm>
          <a:prstGeom prst="ellipse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E5E3155-CE47-4C36-AFC4-DE704890B754}"/>
              </a:ext>
            </a:extLst>
          </p:cNvPr>
          <p:cNvSpPr/>
          <p:nvPr/>
        </p:nvSpPr>
        <p:spPr>
          <a:xfrm>
            <a:off x="10414892" y="3717032"/>
            <a:ext cx="288032" cy="288032"/>
          </a:xfrm>
          <a:prstGeom prst="ellipse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736E55C-2562-4DEA-9A1C-6D9CDCDC9CE0}"/>
              </a:ext>
            </a:extLst>
          </p:cNvPr>
          <p:cNvSpPr/>
          <p:nvPr/>
        </p:nvSpPr>
        <p:spPr>
          <a:xfrm>
            <a:off x="4150196" y="3717032"/>
            <a:ext cx="288032" cy="288032"/>
          </a:xfrm>
          <a:prstGeom prst="ellipse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46A4B2C-44C5-4D24-8E91-35480100503A}"/>
              </a:ext>
            </a:extLst>
          </p:cNvPr>
          <p:cNvSpPr/>
          <p:nvPr/>
        </p:nvSpPr>
        <p:spPr>
          <a:xfrm>
            <a:off x="7246540" y="3717032"/>
            <a:ext cx="288032" cy="288032"/>
          </a:xfrm>
          <a:prstGeom prst="ellipse">
            <a:avLst/>
          </a:prstGeom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9ABD1C3-DB23-46E0-BBBF-6E9653E03C5F}"/>
              </a:ext>
            </a:extLst>
          </p:cNvPr>
          <p:cNvSpPr txBox="1">
            <a:spLocks/>
          </p:cNvSpPr>
          <p:nvPr/>
        </p:nvSpPr>
        <p:spPr>
          <a:xfrm>
            <a:off x="69625" y="3964698"/>
            <a:ext cx="2832551" cy="64805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16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2000 | Origen del Low-Code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BDA11E4C-8D50-4162-AA41-B872A173013E}"/>
              </a:ext>
            </a:extLst>
          </p:cNvPr>
          <p:cNvSpPr txBox="1">
            <a:spLocks/>
          </p:cNvSpPr>
          <p:nvPr/>
        </p:nvSpPr>
        <p:spPr>
          <a:xfrm>
            <a:off x="2877936" y="3140981"/>
            <a:ext cx="2832551" cy="64805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16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2020 | La revolución de IA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9B9451A0-30AF-47A1-81B1-8CC11A472A3A}"/>
              </a:ext>
            </a:extLst>
          </p:cNvPr>
          <p:cNvSpPr txBox="1">
            <a:spLocks/>
          </p:cNvSpPr>
          <p:nvPr/>
        </p:nvSpPr>
        <p:spPr>
          <a:xfrm>
            <a:off x="5644362" y="3964699"/>
            <a:ext cx="3492388" cy="64805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16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2023 | Urgencia del Green Coding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04B4C9A3-94E9-4FDB-9493-48E03A991D91}"/>
              </a:ext>
            </a:extLst>
          </p:cNvPr>
          <p:cNvSpPr txBox="1">
            <a:spLocks/>
          </p:cNvSpPr>
          <p:nvPr/>
        </p:nvSpPr>
        <p:spPr>
          <a:xfrm>
            <a:off x="9190756" y="3115815"/>
            <a:ext cx="2736304" cy="64805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16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2025 | El Caso EcoDev Tech</a:t>
            </a:r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B8850C7B-F506-440F-BDD8-9F5D0900CD0A}"/>
              </a:ext>
            </a:extLst>
          </p:cNvPr>
          <p:cNvSpPr txBox="1">
            <a:spLocks/>
          </p:cNvSpPr>
          <p:nvPr/>
        </p:nvSpPr>
        <p:spPr>
          <a:xfrm>
            <a:off x="24443" y="4288727"/>
            <a:ext cx="2832551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s-ES" sz="1600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Herramientas (como OutSystems y Mendix) democratizan y aceleran la creación de software</a:t>
            </a:r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E78B2292-A275-4EDF-A9D0-54EA5D48D313}"/>
              </a:ext>
            </a:extLst>
          </p:cNvPr>
          <p:cNvSpPr txBox="1">
            <a:spLocks/>
          </p:cNvSpPr>
          <p:nvPr/>
        </p:nvSpPr>
        <p:spPr>
          <a:xfrm>
            <a:off x="2733920" y="1700809"/>
            <a:ext cx="2832551" cy="1589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s-ES" sz="1600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Herramientas más usadas (Microsoft) integran IA generativa, acelerando el desarrollo de software</a:t>
            </a:r>
          </a:p>
        </p:txBody>
      </p:sp>
      <p:sp>
        <p:nvSpPr>
          <p:cNvPr id="20" name="Subtítulo 2">
            <a:extLst>
              <a:ext uri="{FF2B5EF4-FFF2-40B4-BE49-F238E27FC236}">
                <a16:creationId xmlns:a16="http://schemas.microsoft.com/office/drawing/2014/main" id="{42D85C42-956B-42B2-88DA-3AEBA07D5FDA}"/>
              </a:ext>
            </a:extLst>
          </p:cNvPr>
          <p:cNvSpPr txBox="1">
            <a:spLocks/>
          </p:cNvSpPr>
          <p:nvPr/>
        </p:nvSpPr>
        <p:spPr>
          <a:xfrm>
            <a:off x="5974280" y="4431484"/>
            <a:ext cx="2832551" cy="1589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s-ES" sz="1600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 sector IT alcanza el 2-3% de las emisiones globales de CO2, impulsando prácticas de programación sostenible</a:t>
            </a:r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8EB436AC-D16B-4C76-BBD7-E1A5848C609C}"/>
              </a:ext>
            </a:extLst>
          </p:cNvPr>
          <p:cNvSpPr txBox="1">
            <a:spLocks/>
          </p:cNvSpPr>
          <p:nvPr/>
        </p:nvSpPr>
        <p:spPr>
          <a:xfrm>
            <a:off x="9120779" y="1700809"/>
            <a:ext cx="2832551" cy="1589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s-ES" sz="1600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Empresa modelo en transición ecológica frenada por la dispersión de métricas ambientales</a:t>
            </a:r>
          </a:p>
        </p:txBody>
      </p:sp>
      <p:sp>
        <p:nvSpPr>
          <p:cNvPr id="22" name="Subtítulo 2">
            <a:extLst>
              <a:ext uri="{FF2B5EF4-FFF2-40B4-BE49-F238E27FC236}">
                <a16:creationId xmlns:a16="http://schemas.microsoft.com/office/drawing/2014/main" id="{2DF084C6-1AC5-418C-9983-604157B2CE5C}"/>
              </a:ext>
            </a:extLst>
          </p:cNvPr>
          <p:cNvSpPr txBox="1">
            <a:spLocks/>
          </p:cNvSpPr>
          <p:nvPr/>
        </p:nvSpPr>
        <p:spPr>
          <a:xfrm>
            <a:off x="351647" y="5733256"/>
            <a:ext cx="11485529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s-ES" sz="18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Low-Code + Inteligencia Artificial + Green Coding = EcoDev Platform</a:t>
            </a:r>
          </a:p>
        </p:txBody>
      </p:sp>
    </p:spTree>
    <p:extLst>
      <p:ext uri="{BB962C8B-B14F-4D97-AF65-F5344CB8AC3E}">
        <p14:creationId xmlns:p14="http://schemas.microsoft.com/office/powerpoint/2010/main" val="2521608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BA616A-F861-4943-BC71-EE1A60945A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833"/>
          <a:stretch/>
        </p:blipFill>
        <p:spPr>
          <a:xfrm>
            <a:off x="-25635" y="-99392"/>
            <a:ext cx="6091673" cy="6957392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8101582E-8A24-4EFB-A1B7-3568A0CDFA40}"/>
              </a:ext>
            </a:extLst>
          </p:cNvPr>
          <p:cNvSpPr txBox="1">
            <a:spLocks/>
          </p:cNvSpPr>
          <p:nvPr/>
        </p:nvSpPr>
        <p:spPr>
          <a:xfrm>
            <a:off x="333772" y="548680"/>
            <a:ext cx="5976664" cy="43204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28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Descripción del área problemática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AFF6618-AA20-48AC-BE4B-40CF1D339228}"/>
              </a:ext>
            </a:extLst>
          </p:cNvPr>
          <p:cNvSpPr/>
          <p:nvPr/>
        </p:nvSpPr>
        <p:spPr>
          <a:xfrm>
            <a:off x="189756" y="414856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7C4B293-2E56-454F-80AE-5309FF0E798E}"/>
              </a:ext>
            </a:extLst>
          </p:cNvPr>
          <p:cNvSpPr txBox="1">
            <a:spLocks/>
          </p:cNvSpPr>
          <p:nvPr/>
        </p:nvSpPr>
        <p:spPr>
          <a:xfrm>
            <a:off x="96564" y="1628800"/>
            <a:ext cx="6091673" cy="4022256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EcoDev: Programa a ciegas entonces…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¿cuánto CO2 generan sus sistemas?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s-ES" sz="2400" noProof="1">
              <a:solidFill>
                <a:srgbClr val="F9F5E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Puntos clave a este problema: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s-ES" sz="2400" noProof="1">
              <a:solidFill>
                <a:srgbClr val="F9F5E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b="1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Desperdicio </a:t>
            </a: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generado por el esfuerzo extra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2400" noProof="1">
              <a:solidFill>
                <a:srgbClr val="F9F5E3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 </a:t>
            </a:r>
            <a:r>
              <a:rPr lang="es-ES" sz="2400" b="1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inteligencia artificial… </a:t>
            </a:r>
            <a:r>
              <a:rPr lang="es-ES" sz="2400" noProof="1">
                <a:solidFill>
                  <a:srgbClr val="F9F5E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¿cuánta energía gasta innecesariamente?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E4BE31B-0327-49EA-A2DB-9F27B6FDBFA1}"/>
              </a:ext>
            </a:extLst>
          </p:cNvPr>
          <p:cNvSpPr txBox="1">
            <a:spLocks/>
          </p:cNvSpPr>
          <p:nvPr/>
        </p:nvSpPr>
        <p:spPr>
          <a:xfrm>
            <a:off x="549796" y="3501008"/>
            <a:ext cx="2998296" cy="116232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80000"/>
              </a:lnSpc>
              <a:spcBef>
                <a:spcPts val="0"/>
              </a:spcBef>
            </a:pPr>
            <a:endParaRPr lang="es-ES" sz="2400" b="1" noProof="1">
              <a:solidFill>
                <a:schemeClr val="accent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9B13C8E-4EDD-40C6-A5FE-FE965A4F8CF8}"/>
              </a:ext>
            </a:extLst>
          </p:cNvPr>
          <p:cNvSpPr txBox="1">
            <a:spLocks/>
          </p:cNvSpPr>
          <p:nvPr/>
        </p:nvSpPr>
        <p:spPr>
          <a:xfrm>
            <a:off x="6480087" y="437574"/>
            <a:ext cx="5976664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28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Justificación</a:t>
            </a:r>
            <a:endParaRPr lang="es-ES" sz="3200" b="1" noProof="1">
              <a:solidFill>
                <a:schemeClr val="tx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0E646A0-26AC-43F4-BD87-87CA3C89744B}"/>
              </a:ext>
            </a:extLst>
          </p:cNvPr>
          <p:cNvSpPr/>
          <p:nvPr/>
        </p:nvSpPr>
        <p:spPr>
          <a:xfrm>
            <a:off x="6310436" y="414856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57CD3AA-5A92-45D4-BAE3-24EBB6A2B8D7}"/>
              </a:ext>
            </a:extLst>
          </p:cNvPr>
          <p:cNvGrpSpPr/>
          <p:nvPr/>
        </p:nvGrpSpPr>
        <p:grpSpPr>
          <a:xfrm>
            <a:off x="6382444" y="2481539"/>
            <a:ext cx="5446973" cy="1057809"/>
            <a:chOff x="6480087" y="1916832"/>
            <a:chExt cx="5446973" cy="1057809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C842A548-A745-4E83-AF03-40B28F341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6480087" y="2110545"/>
              <a:ext cx="310162" cy="620687"/>
            </a:xfrm>
            <a:prstGeom prst="rect">
              <a:avLst/>
            </a:prstGeom>
          </p:spPr>
        </p:pic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5F6D1309-3271-49A1-A93A-5088CB98E443}"/>
                </a:ext>
              </a:extLst>
            </p:cNvPr>
            <p:cNvCxnSpPr/>
            <p:nvPr/>
          </p:nvCxnSpPr>
          <p:spPr>
            <a:xfrm>
              <a:off x="7006273" y="2398577"/>
              <a:ext cx="3122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ACB6B7AD-B714-4E0E-9B12-097ADF7FDEAB}"/>
                </a:ext>
              </a:extLst>
            </p:cNvPr>
            <p:cNvSpPr txBox="1">
              <a:spLocks/>
            </p:cNvSpPr>
            <p:nvPr/>
          </p:nvSpPr>
          <p:spPr>
            <a:xfrm>
              <a:off x="7750596" y="2168860"/>
              <a:ext cx="1728192" cy="504055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s-ES" sz="1800" noProof="1">
                  <a:latin typeface="Roboto" panose="02000000000000000000" pitchFamily="2" charset="0"/>
                  <a:ea typeface="Roboto" panose="02000000000000000000" pitchFamily="2" charset="0"/>
                </a:rPr>
                <a:t>conocimientos</a:t>
              </a: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FF7BC63C-5640-4E8C-B505-83473965AA12}"/>
                </a:ext>
              </a:extLst>
            </p:cNvPr>
            <p:cNvCxnSpPr/>
            <p:nvPr/>
          </p:nvCxnSpPr>
          <p:spPr>
            <a:xfrm>
              <a:off x="7606580" y="2267238"/>
              <a:ext cx="0" cy="35494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818343E2-9F3F-4FD2-A8DA-5327ABDBA8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8788" y="2168860"/>
              <a:ext cx="288032" cy="2297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ítulo 1">
              <a:extLst>
                <a:ext uri="{FF2B5EF4-FFF2-40B4-BE49-F238E27FC236}">
                  <a16:creationId xmlns:a16="http://schemas.microsoft.com/office/drawing/2014/main" id="{A6202C4B-1B62-475D-9D8D-C3E8D4D7A2F2}"/>
                </a:ext>
              </a:extLst>
            </p:cNvPr>
            <p:cNvSpPr txBox="1">
              <a:spLocks/>
            </p:cNvSpPr>
            <p:nvPr/>
          </p:nvSpPr>
          <p:spPr>
            <a:xfrm>
              <a:off x="9725554" y="1916832"/>
              <a:ext cx="1512168" cy="504055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s-ES" sz="1800" noProof="1">
                  <a:latin typeface="Roboto" panose="02000000000000000000" pitchFamily="2" charset="0"/>
                  <a:ea typeface="Roboto" panose="02000000000000000000" pitchFamily="2" charset="0"/>
                </a:rPr>
                <a:t>informáticos</a:t>
              </a:r>
            </a:p>
          </p:txBody>
        </p: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8F604489-9484-4EA0-8C7A-9528614E8C6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449631" y="2427735"/>
              <a:ext cx="288032" cy="2297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ítulo 1">
              <a:extLst>
                <a:ext uri="{FF2B5EF4-FFF2-40B4-BE49-F238E27FC236}">
                  <a16:creationId xmlns:a16="http://schemas.microsoft.com/office/drawing/2014/main" id="{81BF0272-5ED2-4BB2-871C-EA4D897EFA2A}"/>
                </a:ext>
              </a:extLst>
            </p:cNvPr>
            <p:cNvSpPr txBox="1">
              <a:spLocks/>
            </p:cNvSpPr>
            <p:nvPr/>
          </p:nvSpPr>
          <p:spPr>
            <a:xfrm>
              <a:off x="9694812" y="2470586"/>
              <a:ext cx="2232248" cy="504055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s-ES" sz="1800" noProof="1">
                  <a:latin typeface="Roboto" panose="02000000000000000000" pitchFamily="2" charset="0"/>
                  <a:ea typeface="Roboto" panose="02000000000000000000" pitchFamily="2" charset="0"/>
                </a:rPr>
                <a:t>eficiencia ecológica</a:t>
              </a: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97749B4E-11E2-4E26-BC8F-5D39D229F8F5}"/>
              </a:ext>
            </a:extLst>
          </p:cNvPr>
          <p:cNvGrpSpPr/>
          <p:nvPr/>
        </p:nvGrpSpPr>
        <p:grpSpPr>
          <a:xfrm>
            <a:off x="6310336" y="4252799"/>
            <a:ext cx="5400697" cy="625760"/>
            <a:chOff x="6310336" y="4252799"/>
            <a:chExt cx="5400697" cy="625760"/>
          </a:xfrm>
        </p:grpSpPr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B2B51B9C-2574-4680-87D8-ECCA7DB16A58}"/>
                </a:ext>
              </a:extLst>
            </p:cNvPr>
            <p:cNvCxnSpPr/>
            <p:nvPr/>
          </p:nvCxnSpPr>
          <p:spPr>
            <a:xfrm>
              <a:off x="7601300" y="4329902"/>
              <a:ext cx="0" cy="35494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B61DE4B1-7F0C-4A17-90E1-F54C54794693}"/>
                </a:ext>
              </a:extLst>
            </p:cNvPr>
            <p:cNvSpPr txBox="1">
              <a:spLocks/>
            </p:cNvSpPr>
            <p:nvPr/>
          </p:nvSpPr>
          <p:spPr>
            <a:xfrm>
              <a:off x="6310336" y="4252799"/>
              <a:ext cx="792088" cy="625760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s-ES" sz="4400" b="1" noProof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" panose="02000000000000000000" pitchFamily="2" charset="0"/>
                  <a:ea typeface="Roboto" panose="02000000000000000000" pitchFamily="2" charset="0"/>
                </a:rPr>
                <a:t>IA</a:t>
              </a:r>
            </a:p>
          </p:txBody>
        </p: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88A8BB1B-5A9A-45ED-BD31-955BF6762B30}"/>
                </a:ext>
              </a:extLst>
            </p:cNvPr>
            <p:cNvCxnSpPr/>
            <p:nvPr/>
          </p:nvCxnSpPr>
          <p:spPr>
            <a:xfrm>
              <a:off x="7000993" y="4468822"/>
              <a:ext cx="3122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ítulo 1">
              <a:extLst>
                <a:ext uri="{FF2B5EF4-FFF2-40B4-BE49-F238E27FC236}">
                  <a16:creationId xmlns:a16="http://schemas.microsoft.com/office/drawing/2014/main" id="{4FD03A1C-C362-4923-ADBB-45644242F772}"/>
                </a:ext>
              </a:extLst>
            </p:cNvPr>
            <p:cNvSpPr txBox="1">
              <a:spLocks/>
            </p:cNvSpPr>
            <p:nvPr/>
          </p:nvSpPr>
          <p:spPr>
            <a:xfrm>
              <a:off x="7718260" y="4356814"/>
              <a:ext cx="571330" cy="504056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s-ES" sz="4400" b="1" noProof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Roboto" panose="02000000000000000000" pitchFamily="2" charset="0"/>
                  <a:ea typeface="Roboto" panose="02000000000000000000" pitchFamily="2" charset="0"/>
                </a:rPr>
                <a:t>%</a:t>
              </a:r>
            </a:p>
          </p:txBody>
        </p:sp>
        <p:sp>
          <p:nvSpPr>
            <p:cNvPr id="29" name="Título 1">
              <a:extLst>
                <a:ext uri="{FF2B5EF4-FFF2-40B4-BE49-F238E27FC236}">
                  <a16:creationId xmlns:a16="http://schemas.microsoft.com/office/drawing/2014/main" id="{9979C0F1-F704-4B08-AE60-2FF1F76BE774}"/>
                </a:ext>
              </a:extLst>
            </p:cNvPr>
            <p:cNvSpPr txBox="1">
              <a:spLocks/>
            </p:cNvSpPr>
            <p:nvPr/>
          </p:nvSpPr>
          <p:spPr>
            <a:xfrm>
              <a:off x="8217136" y="4252799"/>
              <a:ext cx="3493897" cy="504055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s-ES" sz="1800" noProof="1">
                  <a:latin typeface="Roboto" panose="02000000000000000000" pitchFamily="2" charset="0"/>
                  <a:ea typeface="Roboto" panose="02000000000000000000" pitchFamily="2" charset="0"/>
                </a:rPr>
                <a:t>de contaminación de software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8851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D5754AB-5069-409D-ACB7-E46A39B9217D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5976664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Objetivos del proyecto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3D795D-8EC5-45A3-9CAA-9BCD667F2524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B914CD5-47F0-44E0-8DF6-983CB6AC1388}"/>
              </a:ext>
            </a:extLst>
          </p:cNvPr>
          <p:cNvSpPr txBox="1">
            <a:spLocks/>
          </p:cNvSpPr>
          <p:nvPr/>
        </p:nvSpPr>
        <p:spPr>
          <a:xfrm>
            <a:off x="405780" y="1340768"/>
            <a:ext cx="11521280" cy="1728192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just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0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Objetivo General: </a:t>
            </a:r>
          </a:p>
          <a:p>
            <a:pPr marL="342900" indent="-342900" algn="just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s-ES" sz="1900" noProof="1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        Promover la </a:t>
            </a:r>
            <a:r>
              <a:rPr lang="es-ES" sz="19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sostenibilidad</a:t>
            </a: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 y el </a:t>
            </a:r>
            <a:r>
              <a:rPr lang="es-ES" sz="19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cuidado ambiental </a:t>
            </a:r>
          </a:p>
          <a:p>
            <a:pPr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</a:pPr>
            <a:endParaRPr lang="es-ES" sz="1900" noProof="1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        Crear aplicaciones que gasten y emitan un </a:t>
            </a:r>
            <a:r>
              <a:rPr lang="es-ES" sz="19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70% menos de energía y CO2</a:t>
            </a: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457200" indent="-457200"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es-ES" sz="1900" noProof="1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        </a:t>
            </a:r>
            <a:r>
              <a:rPr lang="es-ES" sz="19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Código </a:t>
            </a: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sin optimizar vs. código optimizado.</a:t>
            </a:r>
          </a:p>
          <a:p>
            <a:pPr marL="457200" indent="-457200"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es-ES" sz="1900" noProof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12F222-6641-4952-A887-F9120E6D6487}"/>
              </a:ext>
            </a:extLst>
          </p:cNvPr>
          <p:cNvSpPr txBox="1"/>
          <p:nvPr/>
        </p:nvSpPr>
        <p:spPr>
          <a:xfrm>
            <a:off x="405780" y="3375913"/>
            <a:ext cx="11053227" cy="34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ES" sz="20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Objetivos Específicos: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47A28B-33A0-4BE7-A587-05AACB8C929E}"/>
              </a:ext>
            </a:extLst>
          </p:cNvPr>
          <p:cNvSpPr txBox="1"/>
          <p:nvPr/>
        </p:nvSpPr>
        <p:spPr>
          <a:xfrm>
            <a:off x="366836" y="3916175"/>
            <a:ext cx="7671792" cy="31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Creación de </a:t>
            </a:r>
            <a:r>
              <a:rPr lang="es-ES" sz="18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softwares low-code </a:t>
            </a: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y utilización de </a:t>
            </a:r>
            <a:r>
              <a:rPr lang="es-ES" sz="18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IA para optimización</a:t>
            </a: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EE5EC52-05A6-412E-8E7E-BE5B99F22382}"/>
              </a:ext>
            </a:extLst>
          </p:cNvPr>
          <p:cNvSpPr txBox="1"/>
          <p:nvPr/>
        </p:nvSpPr>
        <p:spPr>
          <a:xfrm>
            <a:off x="366836" y="4353834"/>
            <a:ext cx="7128792" cy="31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 startAt="2"/>
            </a:pP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Diseñar </a:t>
            </a:r>
            <a:r>
              <a:rPr lang="es-ES" sz="18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pantalla drag &amp; drop</a:t>
            </a: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 para usuarios no expertos.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2A5734-FF95-46F4-82C4-EFE9FADFBBCE}"/>
              </a:ext>
            </a:extLst>
          </p:cNvPr>
          <p:cNvSpPr txBox="1"/>
          <p:nvPr/>
        </p:nvSpPr>
        <p:spPr>
          <a:xfrm>
            <a:off x="366836" y="4785332"/>
            <a:ext cx="6092890" cy="31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 startAt="3"/>
            </a:pP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Utilizar IA para </a:t>
            </a:r>
            <a:r>
              <a:rPr lang="es-ES" sz="18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analizar código y refactorizarlo</a:t>
            </a: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247CC3A-0A0B-4A81-9001-185DAFAFFD16}"/>
              </a:ext>
            </a:extLst>
          </p:cNvPr>
          <p:cNvSpPr txBox="1"/>
          <p:nvPr/>
        </p:nvSpPr>
        <p:spPr>
          <a:xfrm>
            <a:off x="366836" y="5209186"/>
            <a:ext cx="8280920" cy="31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 startAt="4"/>
            </a:pP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Desarrollo de </a:t>
            </a:r>
            <a:r>
              <a:rPr lang="es-ES" sz="18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dashboard integrado </a:t>
            </a: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para resolución de dispersión de datos.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B7C514E-70A8-479C-835E-34548136EFF8}"/>
              </a:ext>
            </a:extLst>
          </p:cNvPr>
          <p:cNvSpPr txBox="1"/>
          <p:nvPr/>
        </p:nvSpPr>
        <p:spPr>
          <a:xfrm>
            <a:off x="366836" y="5633040"/>
            <a:ext cx="8260333" cy="31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 startAt="5"/>
            </a:pP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Evaluar eficiencia energética para validar </a:t>
            </a:r>
            <a:r>
              <a:rPr lang="es-ES" sz="1800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reducción del impacto ambiental</a:t>
            </a:r>
            <a:r>
              <a:rPr lang="es-ES" sz="1800" noProof="1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0173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D5754AB-5069-409D-ACB7-E46A39B9217D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Tecnologías de la Información y la Comunicación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3D795D-8EC5-45A3-9CAA-9BCD667F2524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EC32AC-3C47-4868-A79D-49A5AB507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098" y="1628800"/>
            <a:ext cx="2358356" cy="16294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04B8910-52ED-4F85-8BC2-62ECE580D6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00" y="1728360"/>
            <a:ext cx="1430288" cy="143028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FC2986-B056-452A-B736-077A5526A1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306" y="1342392"/>
            <a:ext cx="2060848" cy="206084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7845A6-72DE-45C3-946E-AEF81923F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9642" y="4077072"/>
            <a:ext cx="1931765" cy="182242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A2EE130-3EA7-448B-98B3-BA05EC73E3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436" y="3613591"/>
            <a:ext cx="2285901" cy="228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06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9A6A9D7-A622-41EF-9CC7-43CAD0A50880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Competencia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8958A9D-A548-4B6A-AFBF-7222339C2466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77C56A-177A-42CE-8EEA-C499BD9C36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48" y="3549809"/>
            <a:ext cx="2852936" cy="285293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4771C9F-E656-47B6-A700-8FE7E4459E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430" y="4618856"/>
            <a:ext cx="3415308" cy="227687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6A683DD-224B-410C-BECC-8C91AF9C5E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235" y="4409649"/>
            <a:ext cx="2977833" cy="1122504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154B9841-EA4D-4A17-8462-CCE2D2F813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2804" y="5532153"/>
            <a:ext cx="2133971" cy="489135"/>
          </a:xfrm>
          <a:prstGeom prst="rect">
            <a:avLst/>
          </a:prstGeom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3068C33A-2406-4E52-9721-CAD7896D7464}"/>
              </a:ext>
            </a:extLst>
          </p:cNvPr>
          <p:cNvGrpSpPr/>
          <p:nvPr/>
        </p:nvGrpSpPr>
        <p:grpSpPr>
          <a:xfrm>
            <a:off x="1775500" y="1321011"/>
            <a:ext cx="8763968" cy="2064281"/>
            <a:chOff x="1341884" y="1392245"/>
            <a:chExt cx="8763968" cy="2064281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AA0AC96-B9E0-40AC-A9CE-328F4150EBC1}"/>
                </a:ext>
              </a:extLst>
            </p:cNvPr>
            <p:cNvSpPr txBox="1"/>
            <p:nvPr/>
          </p:nvSpPr>
          <p:spPr>
            <a:xfrm>
              <a:off x="1341884" y="2126947"/>
              <a:ext cx="3888432" cy="4903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80000"/>
                </a:lnSpc>
                <a:spcBef>
                  <a:spcPts val="0"/>
                </a:spcBef>
              </a:pPr>
              <a:r>
                <a:rPr lang="es-ES" sz="3200" b="1" noProof="1">
                  <a:solidFill>
                    <a:schemeClr val="accent1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Mercado Low-Code</a:t>
              </a: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48B8A5A7-682C-436F-BFB5-4FD42642D8F1}"/>
                </a:ext>
              </a:extLst>
            </p:cNvPr>
            <p:cNvCxnSpPr/>
            <p:nvPr/>
          </p:nvCxnSpPr>
          <p:spPr>
            <a:xfrm flipV="1">
              <a:off x="5131810" y="1743083"/>
              <a:ext cx="629059" cy="629059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DA8B74F8-9A5C-4F7D-88D9-A69BA2DE595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5131809" y="2361529"/>
              <a:ext cx="629059" cy="629059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D4EC970D-268C-425F-9E3C-0BCE0AC4E206}"/>
                </a:ext>
              </a:extLst>
            </p:cNvPr>
            <p:cNvCxnSpPr>
              <a:cxnSpLocks/>
            </p:cNvCxnSpPr>
            <p:nvPr/>
          </p:nvCxnSpPr>
          <p:spPr>
            <a:xfrm>
              <a:off x="5131807" y="2372143"/>
              <a:ext cx="685292" cy="0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ítulo 1">
              <a:extLst>
                <a:ext uri="{FF2B5EF4-FFF2-40B4-BE49-F238E27FC236}">
                  <a16:creationId xmlns:a16="http://schemas.microsoft.com/office/drawing/2014/main" id="{401CE006-EAE4-464D-AA0A-DCC1C0A0EE6C}"/>
                </a:ext>
              </a:extLst>
            </p:cNvPr>
            <p:cNvSpPr txBox="1">
              <a:spLocks/>
            </p:cNvSpPr>
            <p:nvPr/>
          </p:nvSpPr>
          <p:spPr>
            <a:xfrm>
              <a:off x="5861656" y="1392245"/>
              <a:ext cx="4244196" cy="625760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s-ES" sz="3200" b="1" noProof="1">
                  <a:ln w="0"/>
                  <a:solidFill>
                    <a:schemeClr val="accent1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Inteligencia Artificial</a:t>
              </a:r>
            </a:p>
          </p:txBody>
        </p:sp>
        <p:sp>
          <p:nvSpPr>
            <p:cNvPr id="22" name="Título 1">
              <a:extLst>
                <a:ext uri="{FF2B5EF4-FFF2-40B4-BE49-F238E27FC236}">
                  <a16:creationId xmlns:a16="http://schemas.microsoft.com/office/drawing/2014/main" id="{34F73D56-86F3-49AF-9C9A-4895A96C452B}"/>
                </a:ext>
              </a:extLst>
            </p:cNvPr>
            <p:cNvSpPr txBox="1">
              <a:spLocks/>
            </p:cNvSpPr>
            <p:nvPr/>
          </p:nvSpPr>
          <p:spPr>
            <a:xfrm>
              <a:off x="5861656" y="2108008"/>
              <a:ext cx="3215074" cy="625760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s-ES" sz="3200" b="1" noProof="1">
                  <a:ln w="0"/>
                  <a:solidFill>
                    <a:schemeClr val="accent1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Medio Ambiente</a:t>
              </a:r>
            </a:p>
          </p:txBody>
        </p:sp>
        <p:sp>
          <p:nvSpPr>
            <p:cNvPr id="23" name="Título 1">
              <a:extLst>
                <a:ext uri="{FF2B5EF4-FFF2-40B4-BE49-F238E27FC236}">
                  <a16:creationId xmlns:a16="http://schemas.microsoft.com/office/drawing/2014/main" id="{7789AF1B-C1D1-4195-8B6D-3D49BE1E229C}"/>
                </a:ext>
              </a:extLst>
            </p:cNvPr>
            <p:cNvSpPr txBox="1">
              <a:spLocks/>
            </p:cNvSpPr>
            <p:nvPr/>
          </p:nvSpPr>
          <p:spPr>
            <a:xfrm>
              <a:off x="5861656" y="2830766"/>
              <a:ext cx="2705147" cy="625760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lang="es-ES" sz="3200" b="1" noProof="1">
                  <a:ln w="0"/>
                  <a:solidFill>
                    <a:schemeClr val="accent1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Escalabilidad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2835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24D9C65-6AEA-4BBA-834A-7E7CB26B84AA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Diseño Metodológico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E5EBF7-155F-4FE1-801E-A82EB4CDBA7F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CCF14F6-D043-4D97-8288-BEBF1400F525}"/>
              </a:ext>
            </a:extLst>
          </p:cNvPr>
          <p:cNvGrpSpPr/>
          <p:nvPr/>
        </p:nvGrpSpPr>
        <p:grpSpPr>
          <a:xfrm>
            <a:off x="2933005" y="1524797"/>
            <a:ext cx="6322814" cy="1284225"/>
            <a:chOff x="0" y="1670262"/>
            <a:chExt cx="6322814" cy="1284225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F15EB02B-2048-4B38-8166-AEEC10FC7CD5}"/>
                </a:ext>
              </a:extLst>
            </p:cNvPr>
            <p:cNvSpPr txBox="1">
              <a:spLocks/>
            </p:cNvSpPr>
            <p:nvPr/>
          </p:nvSpPr>
          <p:spPr>
            <a:xfrm>
              <a:off x="0" y="1859227"/>
              <a:ext cx="2544936" cy="806491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54013" algn="just">
                <a:lnSpc>
                  <a:spcPct val="80000"/>
                </a:lnSpc>
                <a:spcBef>
                  <a:spcPts val="0"/>
                </a:spcBef>
              </a:pPr>
              <a:r>
                <a:rPr lang="es-ES" sz="3600" b="1" noProof="1">
                  <a:solidFill>
                    <a:schemeClr val="accent1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SCRUM</a:t>
              </a:r>
              <a:endParaRPr lang="es-ES" sz="3600" noProof="1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F34197BC-426B-456F-A2C9-A0D3800C75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3972" y="1818957"/>
              <a:ext cx="720080" cy="400941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1F2CB692-5EB3-4679-B3CC-1B13A3D4756B}"/>
                </a:ext>
              </a:extLst>
            </p:cNvPr>
            <p:cNvCxnSpPr>
              <a:cxnSpLocks/>
            </p:cNvCxnSpPr>
            <p:nvPr/>
          </p:nvCxnSpPr>
          <p:spPr>
            <a:xfrm>
              <a:off x="2133972" y="2212381"/>
              <a:ext cx="720080" cy="400941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ítulo 1">
              <a:extLst>
                <a:ext uri="{FF2B5EF4-FFF2-40B4-BE49-F238E27FC236}">
                  <a16:creationId xmlns:a16="http://schemas.microsoft.com/office/drawing/2014/main" id="{AD7C3696-6E17-426E-95EF-932CEE0AC6B1}"/>
                </a:ext>
              </a:extLst>
            </p:cNvPr>
            <p:cNvSpPr txBox="1">
              <a:spLocks/>
            </p:cNvSpPr>
            <p:nvPr/>
          </p:nvSpPr>
          <p:spPr>
            <a:xfrm>
              <a:off x="2838668" y="1670262"/>
              <a:ext cx="3484146" cy="461591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</a:pPr>
              <a:r>
                <a:rPr lang="es-ES" sz="1900" noProof="1">
                  <a:latin typeface="Roboto" panose="02000000000000000000" pitchFamily="2" charset="0"/>
                  <a:ea typeface="Roboto" panose="02000000000000000000" pitchFamily="2" charset="0"/>
                </a:rPr>
                <a:t>Iteraciones cortas</a:t>
              </a:r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30E5CCC9-7DCB-4513-ACCD-20B6F0151CFD}"/>
                </a:ext>
              </a:extLst>
            </p:cNvPr>
            <p:cNvSpPr txBox="1">
              <a:spLocks/>
            </p:cNvSpPr>
            <p:nvPr/>
          </p:nvSpPr>
          <p:spPr>
            <a:xfrm>
              <a:off x="2869436" y="2492896"/>
              <a:ext cx="2751688" cy="461591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</a:pPr>
              <a:r>
                <a:rPr lang="es-ES" sz="1900" noProof="1">
                  <a:latin typeface="Roboto" panose="02000000000000000000" pitchFamily="2" charset="0"/>
                  <a:ea typeface="Roboto" panose="02000000000000000000" pitchFamily="2" charset="0"/>
                </a:rPr>
                <a:t>Entregas incrementales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7AFBF89C-E9CF-4BC4-9333-3BF951272E92}"/>
              </a:ext>
            </a:extLst>
          </p:cNvPr>
          <p:cNvGrpSpPr/>
          <p:nvPr/>
        </p:nvGrpSpPr>
        <p:grpSpPr>
          <a:xfrm>
            <a:off x="2320937" y="3332179"/>
            <a:ext cx="7546950" cy="1284225"/>
            <a:chOff x="1413892" y="3725357"/>
            <a:chExt cx="7546950" cy="1284225"/>
          </a:xfrm>
        </p:grpSpPr>
        <p:sp>
          <p:nvSpPr>
            <p:cNvPr id="19" name="Título 1">
              <a:extLst>
                <a:ext uri="{FF2B5EF4-FFF2-40B4-BE49-F238E27FC236}">
                  <a16:creationId xmlns:a16="http://schemas.microsoft.com/office/drawing/2014/main" id="{11386E74-A315-4FF9-938F-F6F3BD29EB19}"/>
                </a:ext>
              </a:extLst>
            </p:cNvPr>
            <p:cNvSpPr txBox="1">
              <a:spLocks/>
            </p:cNvSpPr>
            <p:nvPr/>
          </p:nvSpPr>
          <p:spPr>
            <a:xfrm>
              <a:off x="1413892" y="4047328"/>
              <a:ext cx="3603661" cy="463439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54013" algn="just">
                <a:lnSpc>
                  <a:spcPct val="80000"/>
                </a:lnSpc>
                <a:spcBef>
                  <a:spcPts val="0"/>
                </a:spcBef>
              </a:pPr>
              <a:r>
                <a:rPr lang="es-ES" sz="2400" b="1" noProof="1">
                  <a:solidFill>
                    <a:schemeClr val="accent1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Historias de Usuario</a:t>
              </a:r>
              <a:endParaRPr lang="es-ES" sz="2400" noProof="1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3254007C-B4D9-41EB-9E4A-8BB665A9BA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2000" y="3874052"/>
              <a:ext cx="720080" cy="400941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A91D11E2-8987-49DC-9D19-7E6A359D660D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00" y="4283102"/>
              <a:ext cx="720080" cy="400941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ítulo 1">
              <a:extLst>
                <a:ext uri="{FF2B5EF4-FFF2-40B4-BE49-F238E27FC236}">
                  <a16:creationId xmlns:a16="http://schemas.microsoft.com/office/drawing/2014/main" id="{C46DF688-1DDB-4D43-A30A-55FB89150B72}"/>
                </a:ext>
              </a:extLst>
            </p:cNvPr>
            <p:cNvSpPr txBox="1">
              <a:spLocks/>
            </p:cNvSpPr>
            <p:nvPr/>
          </p:nvSpPr>
          <p:spPr>
            <a:xfrm>
              <a:off x="5476696" y="3725357"/>
              <a:ext cx="3484146" cy="461591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</a:pPr>
              <a:r>
                <a:rPr lang="es-ES" sz="1900" noProof="1">
                  <a:latin typeface="Roboto" panose="02000000000000000000" pitchFamily="2" charset="0"/>
                  <a:ea typeface="Roboto" panose="02000000000000000000" pitchFamily="2" charset="0"/>
                </a:rPr>
                <a:t>Product Backlog</a:t>
              </a:r>
            </a:p>
          </p:txBody>
        </p:sp>
        <p:sp>
          <p:nvSpPr>
            <p:cNvPr id="23" name="Título 1">
              <a:extLst>
                <a:ext uri="{FF2B5EF4-FFF2-40B4-BE49-F238E27FC236}">
                  <a16:creationId xmlns:a16="http://schemas.microsoft.com/office/drawing/2014/main" id="{6D6502D3-0A6A-4AED-8979-CED272B6E122}"/>
                </a:ext>
              </a:extLst>
            </p:cNvPr>
            <p:cNvSpPr txBox="1">
              <a:spLocks/>
            </p:cNvSpPr>
            <p:nvPr/>
          </p:nvSpPr>
          <p:spPr>
            <a:xfrm>
              <a:off x="5507464" y="4547991"/>
              <a:ext cx="2027108" cy="461591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</a:pPr>
              <a:r>
                <a:rPr lang="es-ES" sz="1900" noProof="1">
                  <a:latin typeface="Roboto" panose="02000000000000000000" pitchFamily="2" charset="0"/>
                  <a:ea typeface="Roboto" panose="02000000000000000000" pitchFamily="2" charset="0"/>
                </a:rPr>
                <a:t>Sprint Backlog</a:t>
              </a: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1B431D53-980E-474D-BB13-E0D3D868B6F8}"/>
              </a:ext>
            </a:extLst>
          </p:cNvPr>
          <p:cNvGrpSpPr/>
          <p:nvPr/>
        </p:nvGrpSpPr>
        <p:grpSpPr>
          <a:xfrm>
            <a:off x="1980248" y="5142543"/>
            <a:ext cx="8228327" cy="1280541"/>
            <a:chOff x="1322469" y="4972322"/>
            <a:chExt cx="8228327" cy="1280541"/>
          </a:xfrm>
        </p:grpSpPr>
        <p:sp>
          <p:nvSpPr>
            <p:cNvPr id="29" name="Título 1">
              <a:extLst>
                <a:ext uri="{FF2B5EF4-FFF2-40B4-BE49-F238E27FC236}">
                  <a16:creationId xmlns:a16="http://schemas.microsoft.com/office/drawing/2014/main" id="{E8F18111-61CC-4630-9558-F4F11E86ADF7}"/>
                </a:ext>
              </a:extLst>
            </p:cNvPr>
            <p:cNvSpPr txBox="1">
              <a:spLocks/>
            </p:cNvSpPr>
            <p:nvPr/>
          </p:nvSpPr>
          <p:spPr>
            <a:xfrm>
              <a:off x="1322469" y="5419976"/>
              <a:ext cx="4413480" cy="359529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</a:pPr>
              <a:r>
                <a:rPr lang="es-ES" sz="1900" noProof="1">
                  <a:latin typeface="Roboto" panose="02000000000000000000" pitchFamily="2" charset="0"/>
                  <a:ea typeface="Roboto" panose="02000000000000000000" pitchFamily="2" charset="0"/>
                </a:rPr>
                <a:t>Simulación de la problemática EcoDev</a:t>
              </a:r>
            </a:p>
          </p:txBody>
        </p:sp>
        <p:sp>
          <p:nvSpPr>
            <p:cNvPr id="31" name="Título 1">
              <a:extLst>
                <a:ext uri="{FF2B5EF4-FFF2-40B4-BE49-F238E27FC236}">
                  <a16:creationId xmlns:a16="http://schemas.microsoft.com/office/drawing/2014/main" id="{58F1C732-9C5E-4020-8A55-EAFDD7E1666D}"/>
                </a:ext>
              </a:extLst>
            </p:cNvPr>
            <p:cNvSpPr txBox="1">
              <a:spLocks/>
            </p:cNvSpPr>
            <p:nvPr/>
          </p:nvSpPr>
          <p:spPr>
            <a:xfrm>
              <a:off x="6814492" y="5085695"/>
              <a:ext cx="2736304" cy="359529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</a:pPr>
              <a:r>
                <a:rPr lang="es-ES" sz="1900" noProof="1">
                  <a:latin typeface="Roboto" panose="02000000000000000000" pitchFamily="2" charset="0"/>
                  <a:ea typeface="Roboto" panose="02000000000000000000" pitchFamily="2" charset="0"/>
                </a:rPr>
                <a:t>Documentación interna</a:t>
              </a:r>
            </a:p>
          </p:txBody>
        </p: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5766001D-46BC-4DDE-A971-F218F1FFD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9045" y="5156809"/>
              <a:ext cx="720080" cy="400941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86F1FF03-3060-41C5-805B-C8AB40F0E31B}"/>
                </a:ext>
              </a:extLst>
            </p:cNvPr>
            <p:cNvCxnSpPr>
              <a:cxnSpLocks/>
            </p:cNvCxnSpPr>
            <p:nvPr/>
          </p:nvCxnSpPr>
          <p:spPr>
            <a:xfrm>
              <a:off x="5679045" y="5565859"/>
              <a:ext cx="720080" cy="400941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ítulo 1">
              <a:extLst>
                <a:ext uri="{FF2B5EF4-FFF2-40B4-BE49-F238E27FC236}">
                  <a16:creationId xmlns:a16="http://schemas.microsoft.com/office/drawing/2014/main" id="{ACBC4B9B-E19B-4040-A107-8D1055C4DC16}"/>
                </a:ext>
              </a:extLst>
            </p:cNvPr>
            <p:cNvSpPr txBox="1">
              <a:spLocks/>
            </p:cNvSpPr>
            <p:nvPr/>
          </p:nvSpPr>
          <p:spPr>
            <a:xfrm>
              <a:off x="6883354" y="5893334"/>
              <a:ext cx="1437493" cy="359529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</a:pPr>
              <a:r>
                <a:rPr lang="es-ES" sz="1900" noProof="1">
                  <a:latin typeface="Roboto" panose="02000000000000000000" pitchFamily="2" charset="0"/>
                  <a:ea typeface="Roboto" panose="02000000000000000000" pitchFamily="2" charset="0"/>
                </a:rPr>
                <a:t>Entrevistas</a:t>
              </a:r>
            </a:p>
          </p:txBody>
        </p:sp>
        <p:pic>
          <p:nvPicPr>
            <p:cNvPr id="1026" name="Picture 2" descr="Logotipo De Documentos - Imagen gratis en Pixabay">
              <a:extLst>
                <a:ext uri="{FF2B5EF4-FFF2-40B4-BE49-F238E27FC236}">
                  <a16:creationId xmlns:a16="http://schemas.microsoft.com/office/drawing/2014/main" id="{461C7035-6AF0-4FA8-A0A0-09C2BEAB2E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0659" y="4972322"/>
              <a:ext cx="428896" cy="4615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C7623035-1906-40D9-A5F8-27D039F1A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0178" y="5728456"/>
              <a:ext cx="942293" cy="5244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604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24D9C65-6AEA-4BBA-834A-7E7CB26B84AA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Diagnóstico y Propuesta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E5EBF7-155F-4FE1-801E-A82EB4CDBA7F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CA3F92-4184-4B13-952F-1F42302AE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675851" y="3533980"/>
            <a:ext cx="99920" cy="635855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74DC86DE-BFE0-4885-9E0C-3D39B2E8172F}"/>
              </a:ext>
            </a:extLst>
          </p:cNvPr>
          <p:cNvSpPr txBox="1">
            <a:spLocks/>
          </p:cNvSpPr>
          <p:nvPr/>
        </p:nvSpPr>
        <p:spPr>
          <a:xfrm>
            <a:off x="477788" y="1039471"/>
            <a:ext cx="194421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80000"/>
              </a:lnSpc>
              <a:spcBef>
                <a:spcPts val="0"/>
              </a:spcBef>
            </a:pPr>
            <a:r>
              <a:rPr lang="es-ES" sz="24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Diagnóstico</a:t>
            </a: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9990F6B3-2E1C-4729-84FD-540FAE19E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396967"/>
              </p:ext>
            </p:extLst>
          </p:nvPr>
        </p:nvGraphicFramePr>
        <p:xfrm>
          <a:off x="621804" y="1772816"/>
          <a:ext cx="10732452" cy="3101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5669">
                  <a:extLst>
                    <a:ext uri="{9D8B030D-6E8A-4147-A177-3AD203B41FA5}">
                      <a16:colId xmlns:a16="http://schemas.microsoft.com/office/drawing/2014/main" val="1798615549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1309673381"/>
                    </a:ext>
                  </a:extLst>
                </a:gridCol>
                <a:gridCol w="3384375">
                  <a:extLst>
                    <a:ext uri="{9D8B030D-6E8A-4147-A177-3AD203B41FA5}">
                      <a16:colId xmlns:a16="http://schemas.microsoft.com/office/drawing/2014/main" val="51541079"/>
                    </a:ext>
                  </a:extLst>
                </a:gridCol>
              </a:tblGrid>
              <a:tr h="392448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Planificación</a:t>
                      </a:r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Codificación</a:t>
                      </a:r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Monitoreo</a:t>
                      </a:r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421368"/>
                  </a:ext>
                </a:extLst>
              </a:tr>
              <a:tr h="2709505">
                <a:tc>
                  <a:txBody>
                    <a:bodyPr/>
                    <a:lstStyle/>
                    <a:p>
                      <a:pPr algn="ctr"/>
                      <a:endParaRPr lang="es-ES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184336"/>
                  </a:ext>
                </a:extLst>
              </a:tr>
            </a:tbl>
          </a:graphicData>
        </a:graphic>
      </p:graphicFrame>
      <p:grpSp>
        <p:nvGrpSpPr>
          <p:cNvPr id="44" name="Grupo 43">
            <a:extLst>
              <a:ext uri="{FF2B5EF4-FFF2-40B4-BE49-F238E27FC236}">
                <a16:creationId xmlns:a16="http://schemas.microsoft.com/office/drawing/2014/main" id="{56C18BF6-2D82-46FC-B5A9-8967BCD1F301}"/>
              </a:ext>
            </a:extLst>
          </p:cNvPr>
          <p:cNvGrpSpPr/>
          <p:nvPr/>
        </p:nvGrpSpPr>
        <p:grpSpPr>
          <a:xfrm>
            <a:off x="4331512" y="2597481"/>
            <a:ext cx="3666970" cy="1277819"/>
            <a:chOff x="4256243" y="2669488"/>
            <a:chExt cx="3666970" cy="1277819"/>
          </a:xfrm>
        </p:grpSpPr>
        <p:sp>
          <p:nvSpPr>
            <p:cNvPr id="9" name="Título 1">
              <a:extLst>
                <a:ext uri="{FF2B5EF4-FFF2-40B4-BE49-F238E27FC236}">
                  <a16:creationId xmlns:a16="http://schemas.microsoft.com/office/drawing/2014/main" id="{42D45F44-C3C8-49CE-AF1D-B00882F3A29A}"/>
                </a:ext>
              </a:extLst>
            </p:cNvPr>
            <p:cNvSpPr txBox="1">
              <a:spLocks/>
            </p:cNvSpPr>
            <p:nvPr/>
          </p:nvSpPr>
          <p:spPr>
            <a:xfrm>
              <a:off x="4256243" y="2669488"/>
              <a:ext cx="2808312" cy="300766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Programación sin guías</a:t>
              </a:r>
            </a:p>
          </p:txBody>
        </p:sp>
        <p:sp>
          <p:nvSpPr>
            <p:cNvPr id="12" name="Título 1">
              <a:extLst>
                <a:ext uri="{FF2B5EF4-FFF2-40B4-BE49-F238E27FC236}">
                  <a16:creationId xmlns:a16="http://schemas.microsoft.com/office/drawing/2014/main" id="{C80F9259-107F-403C-ACF3-422D377E8480}"/>
                </a:ext>
              </a:extLst>
            </p:cNvPr>
            <p:cNvSpPr txBox="1">
              <a:spLocks/>
            </p:cNvSpPr>
            <p:nvPr/>
          </p:nvSpPr>
          <p:spPr>
            <a:xfrm>
              <a:off x="4264514" y="2983468"/>
              <a:ext cx="3169983" cy="300766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Escasa revisión de código</a:t>
              </a:r>
            </a:p>
          </p:txBody>
        </p:sp>
        <p:sp>
          <p:nvSpPr>
            <p:cNvPr id="13" name="Título 1">
              <a:extLst>
                <a:ext uri="{FF2B5EF4-FFF2-40B4-BE49-F238E27FC236}">
                  <a16:creationId xmlns:a16="http://schemas.microsoft.com/office/drawing/2014/main" id="{880B2EE0-A4C5-481D-BCC9-AE302B1478A0}"/>
                </a:ext>
              </a:extLst>
            </p:cNvPr>
            <p:cNvSpPr txBox="1">
              <a:spLocks/>
            </p:cNvSpPr>
            <p:nvPr/>
          </p:nvSpPr>
          <p:spPr>
            <a:xfrm>
              <a:off x="4257944" y="3269117"/>
              <a:ext cx="3665269" cy="392541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>
                <a:lnSpc>
                  <a:spcPct val="11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No utilización del mismo lenguaje</a:t>
              </a:r>
            </a:p>
          </p:txBody>
        </p:sp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423A6026-50F4-44F0-9527-5FB1DB8C9935}"/>
                </a:ext>
              </a:extLst>
            </p:cNvPr>
            <p:cNvSpPr txBox="1">
              <a:spLocks/>
            </p:cNvSpPr>
            <p:nvPr/>
          </p:nvSpPr>
          <p:spPr>
            <a:xfrm>
              <a:off x="4264514" y="3642963"/>
              <a:ext cx="3654198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Prácticas de eficiencia energética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55C1A620-20BF-42F3-83E3-93591AA78745}"/>
              </a:ext>
            </a:extLst>
          </p:cNvPr>
          <p:cNvGrpSpPr/>
          <p:nvPr/>
        </p:nvGrpSpPr>
        <p:grpSpPr>
          <a:xfrm>
            <a:off x="8014142" y="2837104"/>
            <a:ext cx="3673621" cy="1082150"/>
            <a:chOff x="7938873" y="2909111"/>
            <a:chExt cx="3673621" cy="1082150"/>
          </a:xfrm>
        </p:grpSpPr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72A62FBF-EBD1-4FD8-ABD6-880DB526FC1C}"/>
                </a:ext>
              </a:extLst>
            </p:cNvPr>
            <p:cNvSpPr txBox="1">
              <a:spLocks/>
            </p:cNvSpPr>
            <p:nvPr/>
          </p:nvSpPr>
          <p:spPr>
            <a:xfrm>
              <a:off x="7938873" y="3294051"/>
              <a:ext cx="3673621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Uso de herramientas manuales</a:t>
              </a:r>
            </a:p>
          </p:txBody>
        </p: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50212B74-7089-4DCC-83D5-F452349D3084}"/>
                </a:ext>
              </a:extLst>
            </p:cNvPr>
            <p:cNvGrpSpPr/>
            <p:nvPr/>
          </p:nvGrpSpPr>
          <p:grpSpPr>
            <a:xfrm>
              <a:off x="7938873" y="2909111"/>
              <a:ext cx="3673621" cy="1082150"/>
              <a:chOff x="7938873" y="2909111"/>
              <a:chExt cx="3673621" cy="1082150"/>
            </a:xfrm>
          </p:grpSpPr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D68A7E2D-EE43-4522-AAD4-01A6AA211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42049" y="2909111"/>
                <a:ext cx="2808312" cy="300766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b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342900" indent="-342900" algn="just">
                  <a:lnSpc>
                    <a:spcPct val="80000"/>
                  </a:lnSpc>
                  <a:spcBef>
                    <a:spcPts val="0"/>
                  </a:spcBef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es-ES" sz="1600" noProof="1">
                    <a:latin typeface="Roboto" panose="02000000000000000000" pitchFamily="2" charset="0"/>
                    <a:ea typeface="Roboto" panose="02000000000000000000" pitchFamily="2" charset="0"/>
                  </a:rPr>
                  <a:t>¿Cuánta energía gastan?</a:t>
                </a:r>
              </a:p>
            </p:txBody>
          </p:sp>
          <p:sp>
            <p:nvSpPr>
              <p:cNvPr id="17" name="Título 1">
                <a:extLst>
                  <a:ext uri="{FF2B5EF4-FFF2-40B4-BE49-F238E27FC236}">
                    <a16:creationId xmlns:a16="http://schemas.microsoft.com/office/drawing/2014/main" id="{1560340F-D8F6-4168-BDD3-D796B07ED8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38873" y="3686917"/>
                <a:ext cx="3673621" cy="304344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b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342900" indent="-342900" algn="just">
                  <a:lnSpc>
                    <a:spcPct val="80000"/>
                  </a:lnSpc>
                  <a:spcBef>
                    <a:spcPts val="0"/>
                  </a:spcBef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es-ES" sz="1600" noProof="1">
                    <a:latin typeface="Roboto" panose="02000000000000000000" pitchFamily="2" charset="0"/>
                    <a:ea typeface="Roboto" panose="02000000000000000000" pitchFamily="2" charset="0"/>
                  </a:rPr>
                  <a:t>No tienen alertas → ↑ Huella</a:t>
                </a:r>
              </a:p>
            </p:txBody>
          </p:sp>
        </p:grp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2CC6FE3B-8AA5-40BC-A01D-A5EB9151FCB2}"/>
              </a:ext>
            </a:extLst>
          </p:cNvPr>
          <p:cNvGrpSpPr/>
          <p:nvPr/>
        </p:nvGrpSpPr>
        <p:grpSpPr>
          <a:xfrm>
            <a:off x="705829" y="2329705"/>
            <a:ext cx="3629453" cy="2374272"/>
            <a:chOff x="630560" y="2401712"/>
            <a:chExt cx="3629453" cy="2374272"/>
          </a:xfrm>
        </p:grpSpPr>
        <p:sp>
          <p:nvSpPr>
            <p:cNvPr id="35" name="Título 1">
              <a:extLst>
                <a:ext uri="{FF2B5EF4-FFF2-40B4-BE49-F238E27FC236}">
                  <a16:creationId xmlns:a16="http://schemas.microsoft.com/office/drawing/2014/main" id="{32829052-FC5F-432F-B074-2EB4401061B6}"/>
                </a:ext>
              </a:extLst>
            </p:cNvPr>
            <p:cNvSpPr txBox="1">
              <a:spLocks/>
            </p:cNvSpPr>
            <p:nvPr/>
          </p:nvSpPr>
          <p:spPr>
            <a:xfrm>
              <a:off x="630560" y="2786652"/>
              <a:ext cx="3629453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Sobreasignación de hardware</a:t>
              </a:r>
            </a:p>
          </p:txBody>
        </p:sp>
        <p:sp>
          <p:nvSpPr>
            <p:cNvPr id="37" name="Título 1">
              <a:extLst>
                <a:ext uri="{FF2B5EF4-FFF2-40B4-BE49-F238E27FC236}">
                  <a16:creationId xmlns:a16="http://schemas.microsoft.com/office/drawing/2014/main" id="{28A9CAC4-E523-435B-8131-C32089A8DBA9}"/>
                </a:ext>
              </a:extLst>
            </p:cNvPr>
            <p:cNvSpPr txBox="1">
              <a:spLocks/>
            </p:cNvSpPr>
            <p:nvPr/>
          </p:nvSpPr>
          <p:spPr>
            <a:xfrm>
              <a:off x="633698" y="2401712"/>
              <a:ext cx="3537218" cy="296418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Mala estimación de recursos</a:t>
              </a:r>
            </a:p>
          </p:txBody>
        </p:sp>
        <p:sp>
          <p:nvSpPr>
            <p:cNvPr id="38" name="Título 1">
              <a:extLst>
                <a:ext uri="{FF2B5EF4-FFF2-40B4-BE49-F238E27FC236}">
                  <a16:creationId xmlns:a16="http://schemas.microsoft.com/office/drawing/2014/main" id="{79A112BC-7DEE-4572-A71A-C20DACEE98FC}"/>
                </a:ext>
              </a:extLst>
            </p:cNvPr>
            <p:cNvSpPr txBox="1">
              <a:spLocks/>
            </p:cNvSpPr>
            <p:nvPr/>
          </p:nvSpPr>
          <p:spPr>
            <a:xfrm>
              <a:off x="630560" y="3179518"/>
              <a:ext cx="3629453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↑ Consumo energético</a:t>
              </a:r>
            </a:p>
          </p:txBody>
        </p:sp>
        <p:sp>
          <p:nvSpPr>
            <p:cNvPr id="39" name="Título 1">
              <a:extLst>
                <a:ext uri="{FF2B5EF4-FFF2-40B4-BE49-F238E27FC236}">
                  <a16:creationId xmlns:a16="http://schemas.microsoft.com/office/drawing/2014/main" id="{D463E16C-57F2-4202-8A28-5153E488B8B7}"/>
                </a:ext>
              </a:extLst>
            </p:cNvPr>
            <p:cNvSpPr txBox="1">
              <a:spLocks/>
            </p:cNvSpPr>
            <p:nvPr/>
          </p:nvSpPr>
          <p:spPr>
            <a:xfrm>
              <a:off x="630560" y="3607822"/>
              <a:ext cx="3629453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Sin ecoeficiencia ambiental</a:t>
              </a:r>
            </a:p>
          </p:txBody>
        </p:sp>
        <p:sp>
          <p:nvSpPr>
            <p:cNvPr id="40" name="Título 1">
              <a:extLst>
                <a:ext uri="{FF2B5EF4-FFF2-40B4-BE49-F238E27FC236}">
                  <a16:creationId xmlns:a16="http://schemas.microsoft.com/office/drawing/2014/main" id="{B023121C-23B2-4F0D-A9F6-CF75B1D0CC6B}"/>
                </a:ext>
              </a:extLst>
            </p:cNvPr>
            <p:cNvSpPr txBox="1">
              <a:spLocks/>
            </p:cNvSpPr>
            <p:nvPr/>
          </p:nvSpPr>
          <p:spPr>
            <a:xfrm>
              <a:off x="630560" y="4039731"/>
              <a:ext cx="3629453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Información dispersa </a:t>
              </a:r>
            </a:p>
          </p:txBody>
        </p:sp>
        <p:sp>
          <p:nvSpPr>
            <p:cNvPr id="41" name="Título 1">
              <a:extLst>
                <a:ext uri="{FF2B5EF4-FFF2-40B4-BE49-F238E27FC236}">
                  <a16:creationId xmlns:a16="http://schemas.microsoft.com/office/drawing/2014/main" id="{E2B3EE2F-D1B6-46E9-92E0-3AA82CFEE548}"/>
                </a:ext>
              </a:extLst>
            </p:cNvPr>
            <p:cNvSpPr txBox="1">
              <a:spLocks/>
            </p:cNvSpPr>
            <p:nvPr/>
          </p:nvSpPr>
          <p:spPr>
            <a:xfrm>
              <a:off x="630560" y="4471640"/>
              <a:ext cx="3629453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Sin datos de proyectos anteriores</a:t>
              </a:r>
            </a:p>
          </p:txBody>
        </p:sp>
      </p:grpSp>
      <p:sp>
        <p:nvSpPr>
          <p:cNvPr id="47" name="Título 1">
            <a:extLst>
              <a:ext uri="{FF2B5EF4-FFF2-40B4-BE49-F238E27FC236}">
                <a16:creationId xmlns:a16="http://schemas.microsoft.com/office/drawing/2014/main" id="{F161AB32-BB2C-4719-8E27-AE2269A6B63B}"/>
              </a:ext>
            </a:extLst>
          </p:cNvPr>
          <p:cNvSpPr txBox="1">
            <a:spLocks/>
          </p:cNvSpPr>
          <p:nvPr/>
        </p:nvSpPr>
        <p:spPr>
          <a:xfrm>
            <a:off x="405780" y="4941168"/>
            <a:ext cx="194421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80000"/>
              </a:lnSpc>
              <a:spcBef>
                <a:spcPts val="0"/>
              </a:spcBef>
            </a:pPr>
            <a:r>
              <a:rPr lang="es-ES" sz="24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Propuesta</a:t>
            </a:r>
          </a:p>
        </p:txBody>
      </p:sp>
      <p:sp>
        <p:nvSpPr>
          <p:cNvPr id="48" name="Título 1">
            <a:extLst>
              <a:ext uri="{FF2B5EF4-FFF2-40B4-BE49-F238E27FC236}">
                <a16:creationId xmlns:a16="http://schemas.microsoft.com/office/drawing/2014/main" id="{36CC7F7C-EC1F-46E8-87EB-0D311B30976E}"/>
              </a:ext>
            </a:extLst>
          </p:cNvPr>
          <p:cNvSpPr txBox="1">
            <a:spLocks/>
          </p:cNvSpPr>
          <p:nvPr/>
        </p:nvSpPr>
        <p:spPr>
          <a:xfrm>
            <a:off x="2207610" y="5629618"/>
            <a:ext cx="7560840" cy="60769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>
              <a:lnSpc>
                <a:spcPct val="80000"/>
              </a:lnSpc>
              <a:spcBef>
                <a:spcPts val="0"/>
              </a:spcBef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Plataforma Low-Code + IA = ↓ Consumo energético + ↓ Emisión CO2</a:t>
            </a:r>
          </a:p>
        </p:txBody>
      </p:sp>
    </p:spTree>
    <p:extLst>
      <p:ext uri="{BB962C8B-B14F-4D97-AF65-F5344CB8AC3E}">
        <p14:creationId xmlns:p14="http://schemas.microsoft.com/office/powerpoint/2010/main" val="223085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CC0541C-A2E0-4D1B-A96C-E9A3F60991DD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Objetivo, límites y alcance del prototipo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E9C089-0D98-4C53-8D8D-4EB63E0FE460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9DD2E8-1D12-4754-A2D7-05605B69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735"/>
            <a:ext cx="12188825" cy="1123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808100F-0889-4B52-A023-60F0CAFF5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737"/>
            <a:ext cx="12188825" cy="11238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09BF3DD-A330-415B-AEA7-74A1D5EF6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6613"/>
            <a:ext cx="12188825" cy="112387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E7C482E1-59D9-4D60-A54B-626FECCBD623}"/>
              </a:ext>
            </a:extLst>
          </p:cNvPr>
          <p:cNvSpPr txBox="1">
            <a:spLocks/>
          </p:cNvSpPr>
          <p:nvPr/>
        </p:nvSpPr>
        <p:spPr>
          <a:xfrm>
            <a:off x="0" y="1309266"/>
            <a:ext cx="11927060" cy="75381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s-ES" sz="19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Objetivo: </a:t>
            </a: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Integración de IA en plataforma low-code para crear aplicaciones y reducir el impacto ambiental.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0ED6062-A3E7-4798-8BA4-EC8591A0DC7B}"/>
              </a:ext>
            </a:extLst>
          </p:cNvPr>
          <p:cNvSpPr txBox="1">
            <a:spLocks/>
          </p:cNvSpPr>
          <p:nvPr/>
        </p:nvSpPr>
        <p:spPr>
          <a:xfrm>
            <a:off x="-22076" y="2481174"/>
            <a:ext cx="11927060" cy="64807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s-ES" sz="19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Límites: </a:t>
            </a: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Desde la definición inicial de requisitos ⭤  Hasta el despliegue y monitoreo de métricas ambientales del código.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2499ED0-0EFD-4094-B748-5BDA00ED3A87}"/>
              </a:ext>
            </a:extLst>
          </p:cNvPr>
          <p:cNvSpPr txBox="1">
            <a:spLocks/>
          </p:cNvSpPr>
          <p:nvPr/>
        </p:nvSpPr>
        <p:spPr>
          <a:xfrm>
            <a:off x="477788" y="4070190"/>
            <a:ext cx="11148106" cy="2304257"/>
          </a:xfrm>
          <a:prstGeom prst="rect">
            <a:avLst/>
          </a:prstGeom>
          <a:effectLst/>
        </p:spPr>
        <p:txBody>
          <a:bodyPr vert="horz" lIns="91440" tIns="45720" rIns="91440" bIns="45720" numCol="2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Registrar lo que pide el cliente.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Diseñar cómo va a ser la aplicación.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Escribir el código junto con la IA.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Hacer pruebas de funcionalidad.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es-ES" sz="1900" noProof="1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es-ES" sz="1900" noProof="1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Mirar cómo rinde y cuanta energía gasta.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Arreglar y refactorizar código.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Emitir reporte ambiental.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Y dejar la aplicación para desplegar y monitorear.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endParaRPr lang="es-ES" sz="1900" noProof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85C5A763-A32A-4D04-87D4-C0E0A60BDEA7}"/>
              </a:ext>
            </a:extLst>
          </p:cNvPr>
          <p:cNvSpPr txBox="1">
            <a:spLocks/>
          </p:cNvSpPr>
          <p:nvPr/>
        </p:nvSpPr>
        <p:spPr>
          <a:xfrm>
            <a:off x="-22076" y="3565387"/>
            <a:ext cx="1287760" cy="47279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>
              <a:lnSpc>
                <a:spcPct val="80000"/>
              </a:lnSpc>
              <a:spcBef>
                <a:spcPts val="0"/>
              </a:spcBef>
            </a:pPr>
            <a:r>
              <a:rPr lang="es-ES" sz="19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Alcance:</a:t>
            </a:r>
            <a:endParaRPr lang="es-ES" sz="1900" noProof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934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F970F-DF34-4DA1-B6D7-68D85B861B21}"/>
              </a:ext>
            </a:extLst>
          </p:cNvPr>
          <p:cNvSpPr txBox="1">
            <a:spLocks/>
          </p:cNvSpPr>
          <p:nvPr/>
        </p:nvSpPr>
        <p:spPr>
          <a:xfrm>
            <a:off x="693812" y="332656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Product Backlog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7019329-5E43-4C6E-82DD-48152F4C2823}"/>
              </a:ext>
            </a:extLst>
          </p:cNvPr>
          <p:cNvSpPr/>
          <p:nvPr/>
        </p:nvSpPr>
        <p:spPr>
          <a:xfrm>
            <a:off x="477788" y="364704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8BBBEC7-AA54-4E52-A05E-0E390B4F0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383991"/>
              </p:ext>
            </p:extLst>
          </p:nvPr>
        </p:nvGraphicFramePr>
        <p:xfrm>
          <a:off x="477788" y="1124744"/>
          <a:ext cx="10873208" cy="50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1984684282"/>
                    </a:ext>
                  </a:extLst>
                </a:gridCol>
                <a:gridCol w="7218276">
                  <a:extLst>
                    <a:ext uri="{9D8B030D-6E8A-4147-A177-3AD203B41FA5}">
                      <a16:colId xmlns:a16="http://schemas.microsoft.com/office/drawing/2014/main" val="3981569063"/>
                    </a:ext>
                  </a:extLst>
                </a:gridCol>
                <a:gridCol w="1998748">
                  <a:extLst>
                    <a:ext uri="{9D8B030D-6E8A-4147-A177-3AD203B41FA5}">
                      <a16:colId xmlns:a16="http://schemas.microsoft.com/office/drawing/2014/main" val="2934292813"/>
                    </a:ext>
                  </a:extLst>
                </a:gridCol>
              </a:tblGrid>
              <a:tr h="374236">
                <a:tc>
                  <a:txBody>
                    <a:bodyPr/>
                    <a:lstStyle/>
                    <a:p>
                      <a:pPr algn="ctr"/>
                      <a:r>
                        <a:rPr lang="es-ES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ID</a:t>
                      </a:r>
                      <a:endParaRPr lang="es-AR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Nombre</a:t>
                      </a:r>
                      <a:endParaRPr lang="es-AR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Dependencias</a:t>
                      </a:r>
                      <a:endParaRPr lang="es-AR" sz="17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85154" marR="85154" marT="42577" marB="42577" anchor="ctr"/>
                </a:tc>
                <a:extLst>
                  <a:ext uri="{0D108BD9-81ED-4DB2-BD59-A6C34878D82A}">
                    <a16:rowId xmlns:a16="http://schemas.microsoft.com/office/drawing/2014/main" val="4106362631"/>
                  </a:ext>
                </a:extLst>
              </a:tr>
              <a:tr h="583779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HU-001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Recopilación de requisitos iniciales con métricas energéticas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-</a:t>
                      </a:r>
                    </a:p>
                  </a:txBody>
                  <a:tcPr marL="85154" marR="85154" marT="42577" marB="42577" anchor="ctr"/>
                </a:tc>
                <a:extLst>
                  <a:ext uri="{0D108BD9-81ED-4DB2-BD59-A6C34878D82A}">
                    <a16:rowId xmlns:a16="http://schemas.microsoft.com/office/drawing/2014/main" val="114700893"/>
                  </a:ext>
                </a:extLst>
              </a:tr>
              <a:tr h="517793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HU-002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Diseño de arquitectura low-code con soporte IA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HU-001</a:t>
                      </a:r>
                    </a:p>
                  </a:txBody>
                  <a:tcPr marL="85154" marR="85154" marT="42577" marB="42577" anchor="ctr"/>
                </a:tc>
                <a:extLst>
                  <a:ext uri="{0D108BD9-81ED-4DB2-BD59-A6C34878D82A}">
                    <a16:rowId xmlns:a16="http://schemas.microsoft.com/office/drawing/2014/main" val="3635796539"/>
                  </a:ext>
                </a:extLst>
              </a:tr>
              <a:tr h="583779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HU-003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Generación de código optimizado mediante IA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HU-002</a:t>
                      </a:r>
                    </a:p>
                  </a:txBody>
                  <a:tcPr marL="85154" marR="85154" marT="42577" marB="42577" anchor="ctr"/>
                </a:tc>
                <a:extLst>
                  <a:ext uri="{0D108BD9-81ED-4DB2-BD59-A6C34878D82A}">
                    <a16:rowId xmlns:a16="http://schemas.microsoft.com/office/drawing/2014/main" val="990260923"/>
                  </a:ext>
                </a:extLst>
              </a:tr>
              <a:tr h="583779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HU-004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Ejecución de pruebas de funcionalidad con evaluación energética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HU-003</a:t>
                      </a:r>
                    </a:p>
                  </a:txBody>
                  <a:tcPr marL="85154" marR="85154" marT="42577" marB="42577" anchor="ctr"/>
                </a:tc>
                <a:extLst>
                  <a:ext uri="{0D108BD9-81ED-4DB2-BD59-A6C34878D82A}">
                    <a16:rowId xmlns:a16="http://schemas.microsoft.com/office/drawing/2014/main" val="2317128646"/>
                  </a:ext>
                </a:extLst>
              </a:tr>
              <a:tr h="534624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HU-005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Monitoreo de métricas de rendimiento con dashboard IA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HU-004</a:t>
                      </a:r>
                    </a:p>
                  </a:txBody>
                  <a:tcPr marL="85154" marR="85154" marT="42577" marB="42577" anchor="ctr"/>
                </a:tc>
                <a:extLst>
                  <a:ext uri="{0D108BD9-81ED-4DB2-BD59-A6C34878D82A}">
                    <a16:rowId xmlns:a16="http://schemas.microsoft.com/office/drawing/2014/main" val="3743589680"/>
                  </a:ext>
                </a:extLst>
              </a:tr>
              <a:tr h="583779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HU-006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Refactorización de código con sugerencias IA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HU-003</a:t>
                      </a:r>
                    </a:p>
                  </a:txBody>
                  <a:tcPr marL="85154" marR="85154" marT="42577" marB="42577" anchor="ctr"/>
                </a:tc>
                <a:extLst>
                  <a:ext uri="{0D108BD9-81ED-4DB2-BD59-A6C34878D82A}">
                    <a16:rowId xmlns:a16="http://schemas.microsoft.com/office/drawing/2014/main" val="3051191340"/>
                  </a:ext>
                </a:extLst>
              </a:tr>
              <a:tr h="695012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HU-007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Generación de reportes ambientales automáticos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HU-005</a:t>
                      </a:r>
                    </a:p>
                  </a:txBody>
                  <a:tcPr marL="85154" marR="85154" marT="42577" marB="42577" anchor="ctr"/>
                </a:tc>
                <a:extLst>
                  <a:ext uri="{0D108BD9-81ED-4DB2-BD59-A6C34878D82A}">
                    <a16:rowId xmlns:a16="http://schemas.microsoft.com/office/drawing/2014/main" val="2071921626"/>
                  </a:ext>
                </a:extLst>
              </a:tr>
              <a:tr h="583779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HU-008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700" kern="1200" dirty="0">
                          <a:solidFill>
                            <a:schemeClr val="dk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Despliegue inicial con revisión de métricas ecoeficientes</a:t>
                      </a:r>
                    </a:p>
                  </a:txBody>
                  <a:tcPr marL="85154" marR="85154" marT="42577" marB="425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HU-007</a:t>
                      </a:r>
                    </a:p>
                  </a:txBody>
                  <a:tcPr marL="85154" marR="85154" marT="42577" marB="42577" anchor="ctr"/>
                </a:tc>
                <a:extLst>
                  <a:ext uri="{0D108BD9-81ED-4DB2-BD59-A6C34878D82A}">
                    <a16:rowId xmlns:a16="http://schemas.microsoft.com/office/drawing/2014/main" val="112568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684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24D9C65-6AEA-4BBA-834A-7E7CB26B84AA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Seguridad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E5EBF7-155F-4FE1-801E-A82EB4CDBA7F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CA3F92-4184-4B13-952F-1F42302AE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675851" y="3533980"/>
            <a:ext cx="99920" cy="6358551"/>
          </a:xfrm>
          <a:prstGeom prst="rect">
            <a:avLst/>
          </a:prstGeom>
        </p:spPr>
      </p:pic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9990F6B3-2E1C-4729-84FD-540FAE19E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521533"/>
              </p:ext>
            </p:extLst>
          </p:nvPr>
        </p:nvGraphicFramePr>
        <p:xfrm>
          <a:off x="509128" y="1124920"/>
          <a:ext cx="11065959" cy="2796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889">
                  <a:extLst>
                    <a:ext uri="{9D8B030D-6E8A-4147-A177-3AD203B41FA5}">
                      <a16:colId xmlns:a16="http://schemas.microsoft.com/office/drawing/2014/main" val="1798615549"/>
                    </a:ext>
                  </a:extLst>
                </a:gridCol>
                <a:gridCol w="3786527">
                  <a:extLst>
                    <a:ext uri="{9D8B030D-6E8A-4147-A177-3AD203B41FA5}">
                      <a16:colId xmlns:a16="http://schemas.microsoft.com/office/drawing/2014/main" val="1309673381"/>
                    </a:ext>
                  </a:extLst>
                </a:gridCol>
                <a:gridCol w="3489543">
                  <a:extLst>
                    <a:ext uri="{9D8B030D-6E8A-4147-A177-3AD203B41FA5}">
                      <a16:colId xmlns:a16="http://schemas.microsoft.com/office/drawing/2014/main" val="51541079"/>
                    </a:ext>
                  </a:extLst>
                </a:gridCol>
              </a:tblGrid>
              <a:tr h="352117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MFA + IA</a:t>
                      </a:r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AWS + AES-256</a:t>
                      </a:r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Control de llaves (IAM)</a:t>
                      </a:r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421368"/>
                  </a:ext>
                </a:extLst>
              </a:tr>
              <a:tr h="2431059">
                <a:tc>
                  <a:txBody>
                    <a:bodyPr/>
                    <a:lstStyle/>
                    <a:p>
                      <a:pPr algn="ctr"/>
                      <a:endParaRPr lang="es-ES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AR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184336"/>
                  </a:ext>
                </a:extLst>
              </a:tr>
            </a:tbl>
          </a:graphicData>
        </a:graphic>
      </p:graphicFrame>
      <p:grpSp>
        <p:nvGrpSpPr>
          <p:cNvPr id="44" name="Grupo 43">
            <a:extLst>
              <a:ext uri="{FF2B5EF4-FFF2-40B4-BE49-F238E27FC236}">
                <a16:creationId xmlns:a16="http://schemas.microsoft.com/office/drawing/2014/main" id="{56C18BF6-2D82-46FC-B5A9-8967BCD1F301}"/>
              </a:ext>
            </a:extLst>
          </p:cNvPr>
          <p:cNvGrpSpPr/>
          <p:nvPr/>
        </p:nvGrpSpPr>
        <p:grpSpPr>
          <a:xfrm>
            <a:off x="4326211" y="1681632"/>
            <a:ext cx="3677205" cy="2240107"/>
            <a:chOff x="4256243" y="2624211"/>
            <a:chExt cx="3677205" cy="2240107"/>
          </a:xfrm>
        </p:grpSpPr>
        <p:sp>
          <p:nvSpPr>
            <p:cNvPr id="9" name="Título 1">
              <a:extLst>
                <a:ext uri="{FF2B5EF4-FFF2-40B4-BE49-F238E27FC236}">
                  <a16:creationId xmlns:a16="http://schemas.microsoft.com/office/drawing/2014/main" id="{42D45F44-C3C8-49CE-AF1D-B00882F3A29A}"/>
                </a:ext>
              </a:extLst>
            </p:cNvPr>
            <p:cNvSpPr txBox="1">
              <a:spLocks/>
            </p:cNvSpPr>
            <p:nvPr/>
          </p:nvSpPr>
          <p:spPr>
            <a:xfrm>
              <a:off x="4256243" y="2624211"/>
              <a:ext cx="3665268" cy="303018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Guardado de datos</a:t>
              </a:r>
            </a:p>
          </p:txBody>
        </p:sp>
        <p:sp>
          <p:nvSpPr>
            <p:cNvPr id="12" name="Título 1">
              <a:extLst>
                <a:ext uri="{FF2B5EF4-FFF2-40B4-BE49-F238E27FC236}">
                  <a16:creationId xmlns:a16="http://schemas.microsoft.com/office/drawing/2014/main" id="{C80F9259-107F-403C-ACF3-422D377E8480}"/>
                </a:ext>
              </a:extLst>
            </p:cNvPr>
            <p:cNvSpPr txBox="1">
              <a:spLocks/>
            </p:cNvSpPr>
            <p:nvPr/>
          </p:nvSpPr>
          <p:spPr>
            <a:xfrm>
              <a:off x="4268179" y="3010848"/>
              <a:ext cx="3169983" cy="300766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Cifrado de datos</a:t>
              </a:r>
            </a:p>
          </p:txBody>
        </p:sp>
        <p:sp>
          <p:nvSpPr>
            <p:cNvPr id="13" name="Título 1">
              <a:extLst>
                <a:ext uri="{FF2B5EF4-FFF2-40B4-BE49-F238E27FC236}">
                  <a16:creationId xmlns:a16="http://schemas.microsoft.com/office/drawing/2014/main" id="{880B2EE0-A4C5-481D-BCC9-AE302B1478A0}"/>
                </a:ext>
              </a:extLst>
            </p:cNvPr>
            <p:cNvSpPr txBox="1">
              <a:spLocks/>
            </p:cNvSpPr>
            <p:nvPr/>
          </p:nvSpPr>
          <p:spPr>
            <a:xfrm>
              <a:off x="4268179" y="3311614"/>
              <a:ext cx="3665269" cy="392541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>
                <a:lnSpc>
                  <a:spcPct val="11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Back-up total diario</a:t>
              </a:r>
            </a:p>
          </p:txBody>
        </p:sp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423A6026-50F4-44F0-9527-5FB1DB8C9935}"/>
                </a:ext>
              </a:extLst>
            </p:cNvPr>
            <p:cNvSpPr txBox="1">
              <a:spLocks/>
            </p:cNvSpPr>
            <p:nvPr/>
          </p:nvSpPr>
          <p:spPr>
            <a:xfrm>
              <a:off x="4269354" y="3783622"/>
              <a:ext cx="3654198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Back-up de cambios cada 1 hora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6922FE0-F732-463F-B57B-043A592149FA}"/>
                </a:ext>
              </a:extLst>
            </p:cNvPr>
            <p:cNvSpPr txBox="1">
              <a:spLocks/>
            </p:cNvSpPr>
            <p:nvPr/>
          </p:nvSpPr>
          <p:spPr>
            <a:xfrm>
              <a:off x="4279250" y="4167433"/>
              <a:ext cx="3654198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Geo-replicación</a:t>
              </a:r>
            </a:p>
          </p:txBody>
        </p:sp>
        <p:sp>
          <p:nvSpPr>
            <p:cNvPr id="27" name="Título 1">
              <a:extLst>
                <a:ext uri="{FF2B5EF4-FFF2-40B4-BE49-F238E27FC236}">
                  <a16:creationId xmlns:a16="http://schemas.microsoft.com/office/drawing/2014/main" id="{C2370068-4BB0-4F3E-B324-3C48E2F78E38}"/>
                </a:ext>
              </a:extLst>
            </p:cNvPr>
            <p:cNvSpPr txBox="1">
              <a:spLocks/>
            </p:cNvSpPr>
            <p:nvPr/>
          </p:nvSpPr>
          <p:spPr>
            <a:xfrm>
              <a:off x="4279250" y="4559974"/>
              <a:ext cx="3654198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Alta disponibilidad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55C1A620-20BF-42F3-83E3-93591AA78745}"/>
              </a:ext>
            </a:extLst>
          </p:cNvPr>
          <p:cNvGrpSpPr/>
          <p:nvPr/>
        </p:nvGrpSpPr>
        <p:grpSpPr>
          <a:xfrm>
            <a:off x="8087771" y="1592977"/>
            <a:ext cx="3673621" cy="1936221"/>
            <a:chOff x="7924279" y="2909111"/>
            <a:chExt cx="3673621" cy="1258881"/>
          </a:xfrm>
        </p:grpSpPr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72A62FBF-EBD1-4FD8-ABD6-880DB526FC1C}"/>
                </a:ext>
              </a:extLst>
            </p:cNvPr>
            <p:cNvSpPr txBox="1">
              <a:spLocks/>
            </p:cNvSpPr>
            <p:nvPr/>
          </p:nvSpPr>
          <p:spPr>
            <a:xfrm>
              <a:off x="7939515" y="3496755"/>
              <a:ext cx="3266124" cy="300766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Registro de nuevos usuarios</a:t>
              </a:r>
            </a:p>
          </p:txBody>
        </p: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50212B74-7089-4DCC-83D5-F452349D3084}"/>
                </a:ext>
              </a:extLst>
            </p:cNvPr>
            <p:cNvGrpSpPr/>
            <p:nvPr/>
          </p:nvGrpSpPr>
          <p:grpSpPr>
            <a:xfrm>
              <a:off x="7924279" y="2909111"/>
              <a:ext cx="3673621" cy="1258881"/>
              <a:chOff x="7924279" y="2909111"/>
              <a:chExt cx="3673621" cy="1258881"/>
            </a:xfrm>
          </p:grpSpPr>
          <p:sp>
            <p:nvSpPr>
              <p:cNvPr id="15" name="Título 1">
                <a:extLst>
                  <a:ext uri="{FF2B5EF4-FFF2-40B4-BE49-F238E27FC236}">
                    <a16:creationId xmlns:a16="http://schemas.microsoft.com/office/drawing/2014/main" id="{D68A7E2D-EE43-4522-AAD4-01A6AA2115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42049" y="2909111"/>
                <a:ext cx="2808312" cy="300766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b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342900" indent="-342900" algn="just">
                  <a:lnSpc>
                    <a:spcPct val="80000"/>
                  </a:lnSpc>
                  <a:spcBef>
                    <a:spcPts val="0"/>
                  </a:spcBef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es-ES" sz="1600" noProof="1">
                    <a:latin typeface="Roboto" panose="02000000000000000000" pitchFamily="2" charset="0"/>
                    <a:ea typeface="Roboto" panose="02000000000000000000" pitchFamily="2" charset="0"/>
                  </a:rPr>
                  <a:t>Mínimo privilegio</a:t>
                </a:r>
              </a:p>
            </p:txBody>
          </p:sp>
          <p:sp>
            <p:nvSpPr>
              <p:cNvPr id="17" name="Título 1">
                <a:extLst>
                  <a:ext uri="{FF2B5EF4-FFF2-40B4-BE49-F238E27FC236}">
                    <a16:creationId xmlns:a16="http://schemas.microsoft.com/office/drawing/2014/main" id="{1560340F-D8F6-4168-BDD3-D796B07ED8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24279" y="3863648"/>
                <a:ext cx="3673621" cy="304344"/>
              </a:xfrm>
              <a:prstGeom prst="rect">
                <a:avLst/>
              </a:prstGeom>
              <a:effectLst/>
            </p:spPr>
            <p:txBody>
              <a:bodyPr vert="horz" lIns="91440" tIns="45720" rIns="91440" bIns="4572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b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marL="342900" indent="-342900" algn="just">
                  <a:lnSpc>
                    <a:spcPct val="80000"/>
                  </a:lnSpc>
                  <a:spcBef>
                    <a:spcPts val="0"/>
                  </a:spcBef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endParaRPr lang="es-ES" sz="1600" noProof="1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28" name="Título 1">
              <a:extLst>
                <a:ext uri="{FF2B5EF4-FFF2-40B4-BE49-F238E27FC236}">
                  <a16:creationId xmlns:a16="http://schemas.microsoft.com/office/drawing/2014/main" id="{CF82581C-E357-41A0-BEE9-F72FC3EBD437}"/>
                </a:ext>
              </a:extLst>
            </p:cNvPr>
            <p:cNvSpPr txBox="1">
              <a:spLocks/>
            </p:cNvSpPr>
            <p:nvPr/>
          </p:nvSpPr>
          <p:spPr>
            <a:xfrm>
              <a:off x="7934175" y="3844453"/>
              <a:ext cx="3266124" cy="300766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Asignación de roles</a:t>
              </a: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2CC6FE3B-8AA5-40BC-A01D-A5EB9151FCB2}"/>
              </a:ext>
            </a:extLst>
          </p:cNvPr>
          <p:cNvGrpSpPr/>
          <p:nvPr/>
        </p:nvGrpSpPr>
        <p:grpSpPr>
          <a:xfrm>
            <a:off x="561814" y="1681632"/>
            <a:ext cx="3629453" cy="1942363"/>
            <a:chOff x="630560" y="2401712"/>
            <a:chExt cx="3629453" cy="1942363"/>
          </a:xfrm>
        </p:grpSpPr>
        <p:sp>
          <p:nvSpPr>
            <p:cNvPr id="35" name="Título 1">
              <a:extLst>
                <a:ext uri="{FF2B5EF4-FFF2-40B4-BE49-F238E27FC236}">
                  <a16:creationId xmlns:a16="http://schemas.microsoft.com/office/drawing/2014/main" id="{32829052-FC5F-432F-B074-2EB4401061B6}"/>
                </a:ext>
              </a:extLst>
            </p:cNvPr>
            <p:cNvSpPr txBox="1">
              <a:spLocks/>
            </p:cNvSpPr>
            <p:nvPr/>
          </p:nvSpPr>
          <p:spPr>
            <a:xfrm>
              <a:off x="630560" y="2786652"/>
              <a:ext cx="3629453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Evitar suplantación de identidad</a:t>
              </a:r>
            </a:p>
          </p:txBody>
        </p:sp>
        <p:sp>
          <p:nvSpPr>
            <p:cNvPr id="37" name="Título 1">
              <a:extLst>
                <a:ext uri="{FF2B5EF4-FFF2-40B4-BE49-F238E27FC236}">
                  <a16:creationId xmlns:a16="http://schemas.microsoft.com/office/drawing/2014/main" id="{28A9CAC4-E523-435B-8131-C32089A8DBA9}"/>
                </a:ext>
              </a:extLst>
            </p:cNvPr>
            <p:cNvSpPr txBox="1">
              <a:spLocks/>
            </p:cNvSpPr>
            <p:nvPr/>
          </p:nvSpPr>
          <p:spPr>
            <a:xfrm>
              <a:off x="633698" y="2401712"/>
              <a:ext cx="3537218" cy="296418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Evitar riesgos de intrusión</a:t>
              </a:r>
            </a:p>
          </p:txBody>
        </p:sp>
        <p:sp>
          <p:nvSpPr>
            <p:cNvPr id="38" name="Título 1">
              <a:extLst>
                <a:ext uri="{FF2B5EF4-FFF2-40B4-BE49-F238E27FC236}">
                  <a16:creationId xmlns:a16="http://schemas.microsoft.com/office/drawing/2014/main" id="{79A112BC-7DEE-4572-A71A-C20DACEE98FC}"/>
                </a:ext>
              </a:extLst>
            </p:cNvPr>
            <p:cNvSpPr txBox="1">
              <a:spLocks/>
            </p:cNvSpPr>
            <p:nvPr/>
          </p:nvSpPr>
          <p:spPr>
            <a:xfrm>
              <a:off x="630560" y="3179518"/>
              <a:ext cx="3629453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IA vigila el comportamiento</a:t>
              </a:r>
            </a:p>
          </p:txBody>
        </p:sp>
        <p:sp>
          <p:nvSpPr>
            <p:cNvPr id="39" name="Título 1">
              <a:extLst>
                <a:ext uri="{FF2B5EF4-FFF2-40B4-BE49-F238E27FC236}">
                  <a16:creationId xmlns:a16="http://schemas.microsoft.com/office/drawing/2014/main" id="{D463E16C-57F2-4202-8A28-5153E488B8B7}"/>
                </a:ext>
              </a:extLst>
            </p:cNvPr>
            <p:cNvSpPr txBox="1">
              <a:spLocks/>
            </p:cNvSpPr>
            <p:nvPr/>
          </p:nvSpPr>
          <p:spPr>
            <a:xfrm>
              <a:off x="630560" y="3607822"/>
              <a:ext cx="3629453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Simulación con PIN</a:t>
              </a:r>
            </a:p>
          </p:txBody>
        </p:sp>
        <p:sp>
          <p:nvSpPr>
            <p:cNvPr id="40" name="Título 1">
              <a:extLst>
                <a:ext uri="{FF2B5EF4-FFF2-40B4-BE49-F238E27FC236}">
                  <a16:creationId xmlns:a16="http://schemas.microsoft.com/office/drawing/2014/main" id="{B023121C-23B2-4F0D-A9F6-CF75B1D0CC6B}"/>
                </a:ext>
              </a:extLst>
            </p:cNvPr>
            <p:cNvSpPr txBox="1">
              <a:spLocks/>
            </p:cNvSpPr>
            <p:nvPr/>
          </p:nvSpPr>
          <p:spPr>
            <a:xfrm>
              <a:off x="630560" y="4039731"/>
              <a:ext cx="3629453" cy="304344"/>
            </a:xfrm>
            <a:prstGeom prst="rect">
              <a:avLst/>
            </a:prstGeom>
            <a:effectLst/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marL="342900" indent="-342900" algn="just">
                <a:lnSpc>
                  <a:spcPct val="80000"/>
                </a:lnSpc>
                <a:spcBef>
                  <a:spcPts val="0"/>
                </a:spcBef>
                <a:buClr>
                  <a:schemeClr val="accent1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s-ES" sz="1600" noProof="1">
                  <a:latin typeface="Roboto" panose="02000000000000000000" pitchFamily="2" charset="0"/>
                  <a:ea typeface="Roboto" panose="02000000000000000000" pitchFamily="2" charset="0"/>
                </a:rPr>
                <a:t>Bcrypt para hash de contraseñas</a:t>
              </a:r>
            </a:p>
          </p:txBody>
        </p:sp>
      </p:grp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64889C07-5BDC-4CC7-91E5-071C1CB34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711940"/>
              </p:ext>
            </p:extLst>
          </p:nvPr>
        </p:nvGraphicFramePr>
        <p:xfrm>
          <a:off x="987124" y="4150405"/>
          <a:ext cx="100472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59595717"/>
                    </a:ext>
                  </a:extLst>
                </a:gridCol>
                <a:gridCol w="1090930">
                  <a:extLst>
                    <a:ext uri="{9D8B030D-6E8A-4147-A177-3AD203B41FA5}">
                      <a16:colId xmlns:a16="http://schemas.microsoft.com/office/drawing/2014/main" val="2570903791"/>
                    </a:ext>
                  </a:extLst>
                </a:gridCol>
                <a:gridCol w="1035367">
                  <a:extLst>
                    <a:ext uri="{9D8B030D-6E8A-4147-A177-3AD203B41FA5}">
                      <a16:colId xmlns:a16="http://schemas.microsoft.com/office/drawing/2014/main" val="637303075"/>
                    </a:ext>
                  </a:extLst>
                </a:gridCol>
                <a:gridCol w="984567">
                  <a:extLst>
                    <a:ext uri="{9D8B030D-6E8A-4147-A177-3AD203B41FA5}">
                      <a16:colId xmlns:a16="http://schemas.microsoft.com/office/drawing/2014/main" val="3288664132"/>
                    </a:ext>
                  </a:extLst>
                </a:gridCol>
                <a:gridCol w="916305">
                  <a:extLst>
                    <a:ext uri="{9D8B030D-6E8A-4147-A177-3AD203B41FA5}">
                      <a16:colId xmlns:a16="http://schemas.microsoft.com/office/drawing/2014/main" val="2056795454"/>
                    </a:ext>
                  </a:extLst>
                </a:gridCol>
                <a:gridCol w="908367">
                  <a:extLst>
                    <a:ext uri="{9D8B030D-6E8A-4147-A177-3AD203B41FA5}">
                      <a16:colId xmlns:a16="http://schemas.microsoft.com/office/drawing/2014/main" val="3811162518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183951215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67416900"/>
                    </a:ext>
                  </a:extLst>
                </a:gridCol>
                <a:gridCol w="802005">
                  <a:extLst>
                    <a:ext uri="{9D8B030D-6E8A-4147-A177-3AD203B41FA5}">
                      <a16:colId xmlns:a16="http://schemas.microsoft.com/office/drawing/2014/main" val="3716677817"/>
                    </a:ext>
                  </a:extLst>
                </a:gridCol>
                <a:gridCol w="806767">
                  <a:extLst>
                    <a:ext uri="{9D8B030D-6E8A-4147-A177-3AD203B41FA5}">
                      <a16:colId xmlns:a16="http://schemas.microsoft.com/office/drawing/2014/main" val="478494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Perfil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Dashboard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Proyectos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Requisito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Editor IA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Historial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Reportes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CI/CD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Alertas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Config</a:t>
                      </a:r>
                      <a:r>
                        <a:rPr lang="es-E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52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Administrador</a:t>
                      </a:r>
                      <a:endParaRPr lang="es-AR" sz="14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20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Gerente de Proyecto</a:t>
                      </a:r>
                      <a:endParaRPr lang="es-AR" sz="14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58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Arq. de Software</a:t>
                      </a:r>
                      <a:endParaRPr lang="es-AR" sz="14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86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Desarrollador</a:t>
                      </a:r>
                      <a:endParaRPr lang="es-AR" sz="14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930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Ing. de Operaciones</a:t>
                      </a:r>
                      <a:endParaRPr lang="es-AR" sz="14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  <a:endParaRPr lang="es-AR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688458"/>
                  </a:ext>
                </a:extLst>
              </a:tr>
            </a:tbl>
          </a:graphicData>
        </a:graphic>
      </p:graphicFrame>
      <p:sp>
        <p:nvSpPr>
          <p:cNvPr id="4" name="Título 1">
            <a:extLst>
              <a:ext uri="{FF2B5EF4-FFF2-40B4-BE49-F238E27FC236}">
                <a16:creationId xmlns:a16="http://schemas.microsoft.com/office/drawing/2014/main" id="{FE132D37-D9B5-4619-2322-9974CEBB5DA8}"/>
              </a:ext>
            </a:extLst>
          </p:cNvPr>
          <p:cNvSpPr txBox="1">
            <a:spLocks/>
          </p:cNvSpPr>
          <p:nvPr/>
        </p:nvSpPr>
        <p:spPr>
          <a:xfrm>
            <a:off x="8096115" y="2019447"/>
            <a:ext cx="3266124" cy="46259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just">
              <a:lnSpc>
                <a:spcPct val="8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s-ES" sz="1600" noProof="1">
                <a:latin typeface="Roboto" panose="02000000000000000000" pitchFamily="2" charset="0"/>
                <a:ea typeface="Roboto" panose="02000000000000000000" pitchFamily="2" charset="0"/>
              </a:rPr>
              <a:t>Estructura de permisos</a:t>
            </a:r>
          </a:p>
        </p:txBody>
      </p:sp>
    </p:spTree>
    <p:extLst>
      <p:ext uri="{BB962C8B-B14F-4D97-AF65-F5344CB8AC3E}">
        <p14:creationId xmlns:p14="http://schemas.microsoft.com/office/powerpoint/2010/main" val="154637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CE9610A-0E84-4D1F-BC8E-5E8E6667480B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Conclusiones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4EDBB0-D3A6-4C8B-94E9-BFD14A5D02E6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C1FE68E-5F9F-4CDA-96AE-941813E14EE6}"/>
              </a:ext>
            </a:extLst>
          </p:cNvPr>
          <p:cNvSpPr txBox="1">
            <a:spLocks/>
          </p:cNvSpPr>
          <p:nvPr/>
        </p:nvSpPr>
        <p:spPr>
          <a:xfrm>
            <a:off x="7462564" y="2168860"/>
            <a:ext cx="4726261" cy="176419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80000"/>
              </a:lnSpc>
              <a:spcBef>
                <a:spcPts val="0"/>
              </a:spcBef>
            </a:pPr>
            <a:r>
              <a:rPr lang="es-ES" sz="3600" b="1" noProof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¡Muchas gracias por la atención!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7F1B940-0C4D-488D-B61B-624FF985022F}"/>
              </a:ext>
            </a:extLst>
          </p:cNvPr>
          <p:cNvSpPr txBox="1">
            <a:spLocks/>
          </p:cNvSpPr>
          <p:nvPr/>
        </p:nvSpPr>
        <p:spPr>
          <a:xfrm>
            <a:off x="453400" y="1790818"/>
            <a:ext cx="6264696" cy="25202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Programación rápida</a:t>
            </a:r>
          </a:p>
          <a:p>
            <a:pPr marL="457200" indent="-4572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Conocimiento del gasto de energía</a:t>
            </a:r>
          </a:p>
          <a:p>
            <a:pPr marL="457200" indent="-4572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Unificación en dashboard</a:t>
            </a:r>
          </a:p>
          <a:p>
            <a:pPr marL="457200" indent="-4572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Refactorización de código con IA</a:t>
            </a:r>
          </a:p>
          <a:p>
            <a:pPr marL="457200" indent="-4572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s-ES" sz="1900" noProof="1">
                <a:latin typeface="Roboto" panose="02000000000000000000" pitchFamily="2" charset="0"/>
                <a:ea typeface="Roboto" panose="02000000000000000000" pitchFamily="2" charset="0"/>
              </a:rPr>
              <a:t>Sin gasto excesivo de energía en el uso de la IA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58C88251-18FE-4464-B0F3-58A609212749}"/>
              </a:ext>
            </a:extLst>
          </p:cNvPr>
          <p:cNvSpPr txBox="1">
            <a:spLocks/>
          </p:cNvSpPr>
          <p:nvPr/>
        </p:nvSpPr>
        <p:spPr>
          <a:xfrm>
            <a:off x="9550796" y="6304776"/>
            <a:ext cx="274723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9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i="1" noProof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Carlos Lautaro Recce</a:t>
            </a:r>
          </a:p>
        </p:txBody>
      </p:sp>
    </p:spTree>
    <p:extLst>
      <p:ext uri="{BB962C8B-B14F-4D97-AF65-F5344CB8AC3E}">
        <p14:creationId xmlns:p14="http://schemas.microsoft.com/office/powerpoint/2010/main" val="202172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CC0541C-A2E0-4D1B-A96C-E9A3F60991DD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Diagrama de Entidad - Relación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E9C089-0D98-4C53-8D8D-4EB63E0FE460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9DD2E8-1D12-4754-A2D7-05605B69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735"/>
            <a:ext cx="12188825" cy="11238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FF29E85-0FDF-AE4C-AD54-CDF1A5338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675" y="1229612"/>
            <a:ext cx="5233473" cy="547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40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CCC0541C-A2E0-4D1B-A96C-E9A3F60991DD}"/>
              </a:ext>
            </a:extLst>
          </p:cNvPr>
          <p:cNvSpPr txBox="1">
            <a:spLocks/>
          </p:cNvSpPr>
          <p:nvPr/>
        </p:nvSpPr>
        <p:spPr>
          <a:xfrm>
            <a:off x="693812" y="404664"/>
            <a:ext cx="950505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s-ES" sz="3200" b="1" noProof="1">
                <a:solidFill>
                  <a:schemeClr val="tx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Análisis de Riesgo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E9C089-0D98-4C53-8D8D-4EB63E0FE460}"/>
              </a:ext>
            </a:extLst>
          </p:cNvPr>
          <p:cNvSpPr/>
          <p:nvPr/>
        </p:nvSpPr>
        <p:spPr>
          <a:xfrm>
            <a:off x="477788" y="436712"/>
            <a:ext cx="144016" cy="43204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9DD2E8-1D12-4754-A2D7-05605B69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735"/>
            <a:ext cx="12188825" cy="112387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6D7AA8D-8CF4-480A-96A7-63DC6AFBE37B}"/>
              </a:ext>
            </a:extLst>
          </p:cNvPr>
          <p:cNvSpPr txBox="1">
            <a:spLocks/>
          </p:cNvSpPr>
          <p:nvPr/>
        </p:nvSpPr>
        <p:spPr>
          <a:xfrm>
            <a:off x="261764" y="1412776"/>
            <a:ext cx="11557284" cy="482453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§"/>
            </a:pPr>
            <a:r>
              <a:rPr lang="es-AR" sz="19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Del Proyecto: </a:t>
            </a:r>
            <a:r>
              <a:rPr lang="es-AR" sz="1900" noProof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 nos quedemos sin dinero o que los proveedores (como AWS) se caigan o nos cambien las reglas a mitad de camino y no cumplamos con las entregas. </a:t>
            </a:r>
          </a:p>
          <a:p>
            <a:pPr marL="342900" indent="-3429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§"/>
            </a:pPr>
            <a:r>
              <a:rPr lang="es-AR" sz="19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Técnicos: </a:t>
            </a:r>
            <a:r>
              <a:rPr lang="es-AR" sz="1900" noProof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 la IA no pueda interactuar con la plataforma low-code, que tenga alucinaciones o que las mediciones de CO2 tampoco puedan interactuar con el resto del sistema. </a:t>
            </a:r>
          </a:p>
          <a:p>
            <a:pPr marL="342900" indent="-3429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§"/>
            </a:pPr>
            <a:r>
              <a:rPr lang="es-AR" sz="19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Seguridad: </a:t>
            </a:r>
            <a:r>
              <a:rPr lang="es-AR" sz="1900" noProof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 nos hackeen, que se filtren los datos de los clientes o que alguien o algún perfil ingrese donde no debe. </a:t>
            </a:r>
          </a:p>
          <a:p>
            <a:pPr marL="342900" indent="-3429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§"/>
            </a:pPr>
            <a:r>
              <a:rPr lang="es-AR" sz="19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Ambientales: </a:t>
            </a:r>
            <a:r>
              <a:rPr lang="es-AR" sz="1900" noProof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 nuestra propia plataforma gaste más energía de la que ahorra o que las mediciones de CO2 sean incorrectas. </a:t>
            </a:r>
          </a:p>
          <a:p>
            <a:pPr marL="342900" indent="-342900" algn="just">
              <a:lnSpc>
                <a:spcPct val="150000"/>
              </a:lnSpc>
              <a:spcBef>
                <a:spcPts val="50"/>
              </a:spcBef>
              <a:spcAft>
                <a:spcPts val="50"/>
              </a:spcAft>
              <a:buFont typeface="Wingdings" panose="05000000000000000000" pitchFamily="2" charset="2"/>
              <a:buChar char="§"/>
            </a:pPr>
            <a:r>
              <a:rPr lang="es-AR" sz="1900" b="1" noProof="1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Gestión: </a:t>
            </a:r>
            <a:r>
              <a:rPr lang="es-AR" sz="1900" noProof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 los programadores no quieran usar la herramienta porque no les gusta cambiar su forma de trabajar. </a:t>
            </a:r>
            <a:endParaRPr lang="es-ES" sz="1900" noProof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404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coLiving_16x9">
  <a:themeElements>
    <a:clrScheme name="EcoLiving">
      <a:dk1>
        <a:srgbClr val="404040"/>
      </a:dk1>
      <a:lt1>
        <a:sysClr val="window" lastClr="FFFFFF"/>
      </a:lt1>
      <a:dk2>
        <a:srgbClr val="000000"/>
      </a:dk2>
      <a:lt2>
        <a:srgbClr val="F5EECF"/>
      </a:lt2>
      <a:accent1>
        <a:srgbClr val="488E4A"/>
      </a:accent1>
      <a:accent2>
        <a:srgbClr val="6595BC"/>
      </a:accent2>
      <a:accent3>
        <a:srgbClr val="CB6933"/>
      </a:accent3>
      <a:accent4>
        <a:srgbClr val="D4BC49"/>
      </a:accent4>
      <a:accent5>
        <a:srgbClr val="8F5C31"/>
      </a:accent5>
      <a:accent6>
        <a:srgbClr val="6E7588"/>
      </a:accent6>
      <a:hlink>
        <a:srgbClr val="B1754C"/>
      </a:hlink>
      <a:folHlink>
        <a:srgbClr val="6595BC"/>
      </a:folHlink>
    </a:clrScheme>
    <a:fontScheme name="EcoLiving_16x9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EcoLiving_16x9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miter lim="800000"/>
        </a:ln>
        <a:ln w="28575" cap="flat" cmpd="sng" algn="ctr">
          <a:solidFill>
            <a:schemeClr val="phClr"/>
          </a:solidFill>
          <a:miter lim="800000"/>
        </a:ln>
        <a:ln w="41275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9999" dist="23000" dir="5400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dir="540000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lumMod val="100000"/>
              </a:schemeClr>
            </a:gs>
            <a:gs pos="100000">
              <a:schemeClr val="phClr">
                <a:tint val="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EcoLiving">
      <a:dk1>
        <a:srgbClr val="404040"/>
      </a:dk1>
      <a:lt1>
        <a:sysClr val="window" lastClr="FFFFFF"/>
      </a:lt1>
      <a:dk2>
        <a:srgbClr val="000000"/>
      </a:dk2>
      <a:lt2>
        <a:srgbClr val="F5EECF"/>
      </a:lt2>
      <a:accent1>
        <a:srgbClr val="488E4A"/>
      </a:accent1>
      <a:accent2>
        <a:srgbClr val="6595BC"/>
      </a:accent2>
      <a:accent3>
        <a:srgbClr val="CB6933"/>
      </a:accent3>
      <a:accent4>
        <a:srgbClr val="D4BC49"/>
      </a:accent4>
      <a:accent5>
        <a:srgbClr val="8F5C31"/>
      </a:accent5>
      <a:accent6>
        <a:srgbClr val="6E7588"/>
      </a:accent6>
      <a:hlink>
        <a:srgbClr val="B1754C"/>
      </a:hlink>
      <a:folHlink>
        <a:srgbClr val="6595BC"/>
      </a:folHlink>
    </a:clrScheme>
    <a:fontScheme name="EcoLiving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EcoLiving">
      <a:dk1>
        <a:srgbClr val="404040"/>
      </a:dk1>
      <a:lt1>
        <a:sysClr val="window" lastClr="FFFFFF"/>
      </a:lt1>
      <a:dk2>
        <a:srgbClr val="000000"/>
      </a:dk2>
      <a:lt2>
        <a:srgbClr val="F5EECF"/>
      </a:lt2>
      <a:accent1>
        <a:srgbClr val="488E4A"/>
      </a:accent1>
      <a:accent2>
        <a:srgbClr val="6595BC"/>
      </a:accent2>
      <a:accent3>
        <a:srgbClr val="CB6933"/>
      </a:accent3>
      <a:accent4>
        <a:srgbClr val="D4BC49"/>
      </a:accent4>
      <a:accent5>
        <a:srgbClr val="8F5C31"/>
      </a:accent5>
      <a:accent6>
        <a:srgbClr val="6E7588"/>
      </a:accent6>
      <a:hlink>
        <a:srgbClr val="B1754C"/>
      </a:hlink>
      <a:folHlink>
        <a:srgbClr val="6595BC"/>
      </a:folHlink>
    </a:clrScheme>
    <a:fontScheme name="EcoLiving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2958f784-0ef9-4616-b22d-512a8cad1f0d">english</DirectSourceMarket>
    <ApprovalStatus xmlns="2958f784-0ef9-4616-b22d-512a8cad1f0d">InProgress</ApprovalStatus>
    <MarketSpecific xmlns="2958f784-0ef9-4616-b22d-512a8cad1f0d">false</MarketSpecific>
    <LocComments xmlns="2958f784-0ef9-4616-b22d-512a8cad1f0d" xsi:nil="true"/>
    <ThumbnailAssetId xmlns="2958f784-0ef9-4616-b22d-512a8cad1f0d" xsi:nil="true"/>
    <PrimaryImageGen xmlns="2958f784-0ef9-4616-b22d-512a8cad1f0d">false</PrimaryImageGen>
    <LegacyData xmlns="2958f784-0ef9-4616-b22d-512a8cad1f0d" xsi:nil="true"/>
    <LocRecommendedHandoff xmlns="2958f784-0ef9-4616-b22d-512a8cad1f0d" xsi:nil="true"/>
    <BusinessGroup xmlns="2958f784-0ef9-4616-b22d-512a8cad1f0d" xsi:nil="true"/>
    <BlockPublish xmlns="2958f784-0ef9-4616-b22d-512a8cad1f0d">false</BlockPublish>
    <TPFriendlyName xmlns="2958f784-0ef9-4616-b22d-512a8cad1f0d" xsi:nil="true"/>
    <NumericId xmlns="2958f784-0ef9-4616-b22d-512a8cad1f0d" xsi:nil="true"/>
    <APEditor xmlns="2958f784-0ef9-4616-b22d-512a8cad1f0d">
      <UserInfo>
        <DisplayName/>
        <AccountId xsi:nil="true"/>
        <AccountType/>
      </UserInfo>
    </APEditor>
    <SourceTitle xmlns="2958f784-0ef9-4616-b22d-512a8cad1f0d" xsi:nil="true"/>
    <OpenTemplate xmlns="2958f784-0ef9-4616-b22d-512a8cad1f0d">true</OpenTemplate>
    <UALocComments xmlns="2958f784-0ef9-4616-b22d-512a8cad1f0d" xsi:nil="true"/>
    <ParentAssetId xmlns="2958f784-0ef9-4616-b22d-512a8cad1f0d" xsi:nil="true"/>
    <IntlLangReviewDate xmlns="2958f784-0ef9-4616-b22d-512a8cad1f0d" xsi:nil="true"/>
    <FeatureTagsTaxHTField0 xmlns="2958f784-0ef9-4616-b22d-512a8cad1f0d">
      <Terms xmlns="http://schemas.microsoft.com/office/infopath/2007/PartnerControls"/>
    </FeatureTagsTaxHTField0>
    <PublishStatusLookup xmlns="2958f784-0ef9-4616-b22d-512a8cad1f0d">
      <Value>631916</Value>
    </PublishStatusLookup>
    <Providers xmlns="2958f784-0ef9-4616-b22d-512a8cad1f0d" xsi:nil="true"/>
    <MachineTranslated xmlns="2958f784-0ef9-4616-b22d-512a8cad1f0d">false</MachineTranslated>
    <OriginalSourceMarket xmlns="2958f784-0ef9-4616-b22d-512a8cad1f0d">english</OriginalSourceMarket>
    <APDescription xmlns="2958f784-0ef9-4616-b22d-512a8cad1f0d" xsi:nil="true"/>
    <ClipArtFilename xmlns="2958f784-0ef9-4616-b22d-512a8cad1f0d" xsi:nil="true"/>
    <ContentItem xmlns="2958f784-0ef9-4616-b22d-512a8cad1f0d" xsi:nil="true"/>
    <TPInstallLocation xmlns="2958f784-0ef9-4616-b22d-512a8cad1f0d" xsi:nil="true"/>
    <PublishTargets xmlns="2958f784-0ef9-4616-b22d-512a8cad1f0d">OfficeOnlineVNext</PublishTargets>
    <TimesCloned xmlns="2958f784-0ef9-4616-b22d-512a8cad1f0d" xsi:nil="true"/>
    <AssetStart xmlns="2958f784-0ef9-4616-b22d-512a8cad1f0d">2011-12-12T13:37:00+00:00</AssetStart>
    <Provider xmlns="2958f784-0ef9-4616-b22d-512a8cad1f0d" xsi:nil="true"/>
    <AcquiredFrom xmlns="2958f784-0ef9-4616-b22d-512a8cad1f0d">Internal MS</AcquiredFrom>
    <FriendlyTitle xmlns="2958f784-0ef9-4616-b22d-512a8cad1f0d" xsi:nil="true"/>
    <LastHandOff xmlns="2958f784-0ef9-4616-b22d-512a8cad1f0d" xsi:nil="true"/>
    <TPClientViewer xmlns="2958f784-0ef9-4616-b22d-512a8cad1f0d" xsi:nil="true"/>
    <ShowIn xmlns="2958f784-0ef9-4616-b22d-512a8cad1f0d">Show everywhere</ShowIn>
    <UANotes xmlns="2958f784-0ef9-4616-b22d-512a8cad1f0d" xsi:nil="true"/>
    <TemplateStatus xmlns="2958f784-0ef9-4616-b22d-512a8cad1f0d">Complete</TemplateStatus>
    <InternalTagsTaxHTField0 xmlns="2958f784-0ef9-4616-b22d-512a8cad1f0d">
      <Terms xmlns="http://schemas.microsoft.com/office/infopath/2007/PartnerControls"/>
    </InternalTagsTaxHTField0>
    <CSXHash xmlns="2958f784-0ef9-4616-b22d-512a8cad1f0d" xsi:nil="true"/>
    <Downloads xmlns="2958f784-0ef9-4616-b22d-512a8cad1f0d">0</Downloads>
    <VoteCount xmlns="2958f784-0ef9-4616-b22d-512a8cad1f0d" xsi:nil="true"/>
    <OOCacheId xmlns="2958f784-0ef9-4616-b22d-512a8cad1f0d" xsi:nil="true"/>
    <IsDeleted xmlns="2958f784-0ef9-4616-b22d-512a8cad1f0d">false</IsDeleted>
    <AssetExpire xmlns="2958f784-0ef9-4616-b22d-512a8cad1f0d">2035-01-01T08:00:00+00:00</AssetExpire>
    <DSATActionTaken xmlns="2958f784-0ef9-4616-b22d-512a8cad1f0d" xsi:nil="true"/>
    <CSXSubmissionMarket xmlns="2958f784-0ef9-4616-b22d-512a8cad1f0d" xsi:nil="true"/>
    <TPExecutable xmlns="2958f784-0ef9-4616-b22d-512a8cad1f0d" xsi:nil="true"/>
    <SubmitterId xmlns="2958f784-0ef9-4616-b22d-512a8cad1f0d" xsi:nil="true"/>
    <EditorialTags xmlns="2958f784-0ef9-4616-b22d-512a8cad1f0d" xsi:nil="true"/>
    <ApprovalLog xmlns="2958f784-0ef9-4616-b22d-512a8cad1f0d" xsi:nil="true"/>
    <AssetType xmlns="2958f784-0ef9-4616-b22d-512a8cad1f0d">TP</AssetType>
    <BugNumber xmlns="2958f784-0ef9-4616-b22d-512a8cad1f0d" xsi:nil="true"/>
    <CSXSubmissionDate xmlns="2958f784-0ef9-4616-b22d-512a8cad1f0d" xsi:nil="true"/>
    <CSXUpdate xmlns="2958f784-0ef9-4616-b22d-512a8cad1f0d">false</CSXUpdate>
    <Milestone xmlns="2958f784-0ef9-4616-b22d-512a8cad1f0d" xsi:nil="true"/>
    <RecommendationsModifier xmlns="2958f784-0ef9-4616-b22d-512a8cad1f0d" xsi:nil="true"/>
    <OriginAsset xmlns="2958f784-0ef9-4616-b22d-512a8cad1f0d" xsi:nil="true"/>
    <TPComponent xmlns="2958f784-0ef9-4616-b22d-512a8cad1f0d" xsi:nil="true"/>
    <AssetId xmlns="2958f784-0ef9-4616-b22d-512a8cad1f0d">TP102801095</AssetId>
    <IntlLocPriority xmlns="2958f784-0ef9-4616-b22d-512a8cad1f0d" xsi:nil="true"/>
    <PolicheckWords xmlns="2958f784-0ef9-4616-b22d-512a8cad1f0d" xsi:nil="true"/>
    <TPLaunchHelpLink xmlns="2958f784-0ef9-4616-b22d-512a8cad1f0d" xsi:nil="true"/>
    <TPApplication xmlns="2958f784-0ef9-4616-b22d-512a8cad1f0d" xsi:nil="true"/>
    <HandoffToMSDN xmlns="2958f784-0ef9-4616-b22d-512a8cad1f0d" xsi:nil="true"/>
    <PlannedPubDate xmlns="2958f784-0ef9-4616-b22d-512a8cad1f0d" xsi:nil="true"/>
    <IntlLangReviewer xmlns="2958f784-0ef9-4616-b22d-512a8cad1f0d" xsi:nil="true"/>
    <CrawlForDependencies xmlns="2958f784-0ef9-4616-b22d-512a8cad1f0d">false</CrawlForDependencies>
    <TrustLevel xmlns="2958f784-0ef9-4616-b22d-512a8cad1f0d">1 Microsoft Managed Content</TrustLevel>
    <LocLastLocAttemptVersionLookup xmlns="2958f784-0ef9-4616-b22d-512a8cad1f0d">706513</LocLastLocAttemptVersionLookup>
    <IsSearchable xmlns="2958f784-0ef9-4616-b22d-512a8cad1f0d">true</IsSearchable>
    <TemplateTemplateType xmlns="2958f784-0ef9-4616-b22d-512a8cad1f0d">PowerPoint 12 Default</TemplateTemplateType>
    <CampaignTagsTaxHTField0 xmlns="2958f784-0ef9-4616-b22d-512a8cad1f0d">
      <Terms xmlns="http://schemas.microsoft.com/office/infopath/2007/PartnerControls"/>
    </CampaignTagsTaxHTField0>
    <TPNamespace xmlns="2958f784-0ef9-4616-b22d-512a8cad1f0d" xsi:nil="true"/>
    <TaxCatchAll xmlns="2958f784-0ef9-4616-b22d-512a8cad1f0d"/>
    <Markets xmlns="2958f784-0ef9-4616-b22d-512a8cad1f0d"/>
    <UAProjectedTotalWords xmlns="2958f784-0ef9-4616-b22d-512a8cad1f0d" xsi:nil="true"/>
    <IntlLangReview xmlns="2958f784-0ef9-4616-b22d-512a8cad1f0d">false</IntlLangReview>
    <OutputCachingOn xmlns="2958f784-0ef9-4616-b22d-512a8cad1f0d">false</OutputCachingOn>
    <AverageRating xmlns="2958f784-0ef9-4616-b22d-512a8cad1f0d" xsi:nil="true"/>
    <APAuthor xmlns="2958f784-0ef9-4616-b22d-512a8cad1f0d">
      <UserInfo>
        <DisplayName>REDMOND\v-soujap</DisplayName>
        <AccountId>1954</AccountId>
        <AccountType/>
      </UserInfo>
    </APAuthor>
    <LocManualTestRequired xmlns="2958f784-0ef9-4616-b22d-512a8cad1f0d">false</LocManualTestRequired>
    <TPCommandLine xmlns="2958f784-0ef9-4616-b22d-512a8cad1f0d" xsi:nil="true"/>
    <TPAppVersion xmlns="2958f784-0ef9-4616-b22d-512a8cad1f0d" xsi:nil="true"/>
    <EditorialStatus xmlns="2958f784-0ef9-4616-b22d-512a8cad1f0d">Complete</EditorialStatus>
    <LastModifiedDateTime xmlns="2958f784-0ef9-4616-b22d-512a8cad1f0d" xsi:nil="true"/>
    <ScenarioTagsTaxHTField0 xmlns="2958f784-0ef9-4616-b22d-512a8cad1f0d">
      <Terms xmlns="http://schemas.microsoft.com/office/infopath/2007/PartnerControls"/>
    </ScenarioTagsTaxHTField0>
    <OriginalRelease xmlns="2958f784-0ef9-4616-b22d-512a8cad1f0d">14</OriginalRelease>
    <TPLaunchHelpLinkType xmlns="2958f784-0ef9-4616-b22d-512a8cad1f0d">Template</TPLaunchHelpLinkType>
    <LocalizationTagsTaxHTField0 xmlns="2958f784-0ef9-4616-b22d-512a8cad1f0d">
      <Terms xmlns="http://schemas.microsoft.com/office/infopath/2007/PartnerControls"/>
    </LocalizationTagsTaxHTField0>
    <UACurrentWords xmlns="2958f784-0ef9-4616-b22d-512a8cad1f0d" xsi:nil="true"/>
    <ArtSampleDocs xmlns="2958f784-0ef9-4616-b22d-512a8cad1f0d" xsi:nil="true"/>
    <UALocRecommendation xmlns="2958f784-0ef9-4616-b22d-512a8cad1f0d">Localize</UALocRecommendation>
    <Manager xmlns="2958f784-0ef9-4616-b22d-512a8cad1f0d" xsi:nil="true"/>
    <Description0 xmlns="fb5acd76-e9f3-4601-9d69-91f53ab96ae6" xsi:nil="true"/>
    <Component xmlns="fb5acd76-e9f3-4601-9d69-91f53ab96ae6" xsi:nil="true"/>
    <LocMarketGroupTiers2 xmlns="2958f784-0ef9-4616-b22d-512a8cad1f0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DE95A0C693CEB341887D38A4A2B58B45040072C752107C5A7B47AA91A1EE638E6F1F" ma:contentTypeVersion="55" ma:contentTypeDescription="Create a new document." ma:contentTypeScope="" ma:versionID="3c98c83416931a21d43ed007fda5e4dd">
  <xsd:schema xmlns:xsd="http://www.w3.org/2001/XMLSchema" xmlns:xs="http://www.w3.org/2001/XMLSchema" xmlns:p="http://schemas.microsoft.com/office/2006/metadata/properties" xmlns:ns2="2958f784-0ef9-4616-b22d-512a8cad1f0d" xmlns:ns3="fb5acd76-e9f3-4601-9d69-91f53ab96ae6" targetNamespace="http://schemas.microsoft.com/office/2006/metadata/properties" ma:root="true" ma:fieldsID="938018c4f46d99993d20879d4e9ddff8" ns2:_="" ns3:_="">
    <xsd:import namespace="2958f784-0ef9-4616-b22d-512a8cad1f0d"/>
    <xsd:import namespace="fb5acd76-e9f3-4601-9d69-91f53ab96ae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58f784-0ef9-4616-b22d-512a8cad1f0d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ca69c71e-a029-4733-aca1-cabc27411b08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D80075B-F8CE-48D6-9BD2-D195F7E115A9}" ma:internalName="CSXSubmissionMarket" ma:readOnly="false" ma:showField="MarketName" ma:web="2958f784-0ef9-4616-b22d-512a8cad1f0d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9327d1a0-1a14-4b12-a74c-0f320f972977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1F044C38-11A0-4051-9DF8-A3AFA85E16DC}" ma:internalName="InProjectListLookup" ma:readOnly="true" ma:showField="InProjectList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3b364bcb-a06e-4da1-8475-f5243c3236b2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1F044C38-11A0-4051-9DF8-A3AFA85E16DC}" ma:internalName="LastCompleteVersionLookup" ma:readOnly="true" ma:showField="LastCompleteVersion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1F044C38-11A0-4051-9DF8-A3AFA85E16DC}" ma:internalName="LastPreviewErrorLookup" ma:readOnly="true" ma:showField="LastPreviewError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1F044C38-11A0-4051-9DF8-A3AFA85E16DC}" ma:internalName="LastPreviewResultLookup" ma:readOnly="true" ma:showField="LastPreviewResult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1F044C38-11A0-4051-9DF8-A3AFA85E16DC}" ma:internalName="LastPreviewAttemptDateLookup" ma:readOnly="true" ma:showField="LastPreviewAttemptDat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1F044C38-11A0-4051-9DF8-A3AFA85E16DC}" ma:internalName="LastPreviewedByLookup" ma:readOnly="true" ma:showField="LastPreviewedBy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1F044C38-11A0-4051-9DF8-A3AFA85E16DC}" ma:internalName="LastPreviewTimeLookup" ma:readOnly="true" ma:showField="LastPreviewTim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1F044C38-11A0-4051-9DF8-A3AFA85E16DC}" ma:internalName="LastPreviewVersionLookup" ma:readOnly="true" ma:showField="LastPreviewVersion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1F044C38-11A0-4051-9DF8-A3AFA85E16DC}" ma:internalName="LastPublishErrorLookup" ma:readOnly="true" ma:showField="LastPublishError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1F044C38-11A0-4051-9DF8-A3AFA85E16DC}" ma:internalName="LastPublishResultLookup" ma:readOnly="true" ma:showField="LastPublishResult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1F044C38-11A0-4051-9DF8-A3AFA85E16DC}" ma:internalName="LastPublishAttemptDateLookup" ma:readOnly="true" ma:showField="LastPublishAttemptDat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1F044C38-11A0-4051-9DF8-A3AFA85E16DC}" ma:internalName="LastPublishedByLookup" ma:readOnly="true" ma:showField="LastPublishedBy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1F044C38-11A0-4051-9DF8-A3AFA85E16DC}" ma:internalName="LastPublishTimeLookup" ma:readOnly="true" ma:showField="LastPublishTim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1F044C38-11A0-4051-9DF8-A3AFA85E16DC}" ma:internalName="LastPublishVersionLookup" ma:readOnly="true" ma:showField="LastPublishVersion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AC64899A-88C0-4725-BCFC-902FA402DE74}" ma:internalName="LocLastLocAttemptVersionLookup" ma:readOnly="false" ma:showField="LastLocAttemptVersion" ma:web="2958f784-0ef9-4616-b22d-512a8cad1f0d">
      <xsd:simpleType>
        <xsd:restriction base="dms:Lookup"/>
      </xsd:simpleType>
    </xsd:element>
    <xsd:element name="LocLastLocAttemptVersionTypeLookup" ma:index="72" nillable="true" ma:displayName="Loc Last Loc Attempt Version Type" ma:default="" ma:list="{AC64899A-88C0-4725-BCFC-902FA402DE74}" ma:internalName="LocLastLocAttemptVersionTypeLookup" ma:readOnly="true" ma:showField="LastLocAttemptVersionType" ma:web="2958f784-0ef9-4616-b22d-512a8cad1f0d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AC64899A-88C0-4725-BCFC-902FA402DE74}" ma:internalName="LocNewPublishedVersionLookup" ma:readOnly="true" ma:showField="NewPublishedVersion" ma:web="2958f784-0ef9-4616-b22d-512a8cad1f0d">
      <xsd:simpleType>
        <xsd:restriction base="dms:Lookup"/>
      </xsd:simpleType>
    </xsd:element>
    <xsd:element name="LocOverallHandbackStatusLookup" ma:index="76" nillable="true" ma:displayName="Loc Overall Handback Status" ma:default="" ma:list="{AC64899A-88C0-4725-BCFC-902FA402DE74}" ma:internalName="LocOverallHandbackStatusLookup" ma:readOnly="true" ma:showField="OverallHandbackStatus" ma:web="2958f784-0ef9-4616-b22d-512a8cad1f0d">
      <xsd:simpleType>
        <xsd:restriction base="dms:Lookup"/>
      </xsd:simpleType>
    </xsd:element>
    <xsd:element name="LocOverallLocStatusLookup" ma:index="77" nillable="true" ma:displayName="Loc Overall Localize Status" ma:default="" ma:list="{AC64899A-88C0-4725-BCFC-902FA402DE74}" ma:internalName="LocOverallLocStatusLookup" ma:readOnly="true" ma:showField="OverallLocStatus" ma:web="2958f784-0ef9-4616-b22d-512a8cad1f0d">
      <xsd:simpleType>
        <xsd:restriction base="dms:Lookup"/>
      </xsd:simpleType>
    </xsd:element>
    <xsd:element name="LocOverallPreviewStatusLookup" ma:index="78" nillable="true" ma:displayName="Loc Overall Preview Status" ma:default="" ma:list="{AC64899A-88C0-4725-BCFC-902FA402DE74}" ma:internalName="LocOverallPreviewStatusLookup" ma:readOnly="true" ma:showField="OverallPreviewStatus" ma:web="2958f784-0ef9-4616-b22d-512a8cad1f0d">
      <xsd:simpleType>
        <xsd:restriction base="dms:Lookup"/>
      </xsd:simpleType>
    </xsd:element>
    <xsd:element name="LocOverallPublishStatusLookup" ma:index="79" nillable="true" ma:displayName="Loc Overall Publish Status" ma:default="" ma:list="{AC64899A-88C0-4725-BCFC-902FA402DE74}" ma:internalName="LocOverallPublishStatusLookup" ma:readOnly="true" ma:showField="OverallPublishStatus" ma:web="2958f784-0ef9-4616-b22d-512a8cad1f0d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AC64899A-88C0-4725-BCFC-902FA402DE74}" ma:internalName="LocProcessedForHandoffsLookup" ma:readOnly="true" ma:showField="ProcessedForHandoffs" ma:web="2958f784-0ef9-4616-b22d-512a8cad1f0d">
      <xsd:simpleType>
        <xsd:restriction base="dms:Lookup"/>
      </xsd:simpleType>
    </xsd:element>
    <xsd:element name="LocProcessedForMarketsLookup" ma:index="82" nillable="true" ma:displayName="Loc Processed For Markets" ma:default="" ma:list="{AC64899A-88C0-4725-BCFC-902FA402DE74}" ma:internalName="LocProcessedForMarketsLookup" ma:readOnly="true" ma:showField="ProcessedForMarkets" ma:web="2958f784-0ef9-4616-b22d-512a8cad1f0d">
      <xsd:simpleType>
        <xsd:restriction base="dms:Lookup"/>
      </xsd:simpleType>
    </xsd:element>
    <xsd:element name="LocPublishedDependentAssetsLookup" ma:index="83" nillable="true" ma:displayName="Loc Published Dependent Assets" ma:default="" ma:list="{AC64899A-88C0-4725-BCFC-902FA402DE74}" ma:internalName="LocPublishedDependentAssetsLookup" ma:readOnly="true" ma:showField="PublishedDependentAssets" ma:web="2958f784-0ef9-4616-b22d-512a8cad1f0d">
      <xsd:simpleType>
        <xsd:restriction base="dms:Lookup"/>
      </xsd:simpleType>
    </xsd:element>
    <xsd:element name="LocPublishedLinkedAssetsLookup" ma:index="84" nillable="true" ma:displayName="Loc Published Linked Assets" ma:default="" ma:list="{AC64899A-88C0-4725-BCFC-902FA402DE74}" ma:internalName="LocPublishedLinkedAssetsLookup" ma:readOnly="true" ma:showField="PublishedLinkedAssets" ma:web="2958f784-0ef9-4616-b22d-512a8cad1f0d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251ee2d3-c117-4524-b3f1-1010c3cab2a3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D80075B-F8CE-48D6-9BD2-D195F7E115A9}" ma:internalName="Markets" ma:readOnly="false" ma:showField="MarketName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1F044C38-11A0-4051-9DF8-A3AFA85E16DC}" ma:internalName="NumOfRatingsLookup" ma:readOnly="true" ma:showField="NumOfRatings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1F044C38-11A0-4051-9DF8-A3AFA85E16DC}" ma:internalName="PublishStatusLookup" ma:readOnly="false" ma:showField="PublishStatus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54e2ea7-8c43-4b3c-9db4-bd71f7cfe4f4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33f01220-6030-4880-975f-b9ea0de09f53}" ma:internalName="TaxCatchAll" ma:showField="CatchAllData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33f01220-6030-4880-975f-b9ea0de09f53}" ma:internalName="TaxCatchAllLabel" ma:readOnly="true" ma:showField="CatchAllDataLabel" ma:web="2958f784-0ef9-4616-b22d-512a8cad1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5acd76-e9f3-4601-9d69-91f53ab96ae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F167837-5CC0-4111-8184-E835CFFE8FFF}">
  <ds:schemaRefs>
    <ds:schemaRef ds:uri="http://schemas.microsoft.com/office/2006/metadata/properties"/>
    <ds:schemaRef ds:uri="http://schemas.microsoft.com/office/infopath/2007/PartnerControls"/>
    <ds:schemaRef ds:uri="2958f784-0ef9-4616-b22d-512a8cad1f0d"/>
    <ds:schemaRef ds:uri="fb5acd76-e9f3-4601-9d69-91f53ab96ae6"/>
  </ds:schemaRefs>
</ds:datastoreItem>
</file>

<file path=customXml/itemProps2.xml><?xml version="1.0" encoding="utf-8"?>
<ds:datastoreItem xmlns:ds="http://schemas.openxmlformats.org/officeDocument/2006/customXml" ds:itemID="{4C9D3AD1-7023-4D9A-9A2C-6210655477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58f784-0ef9-4616-b22d-512a8cad1f0d"/>
    <ds:schemaRef ds:uri="fb5acd76-e9f3-4601-9d69-91f53ab96a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982DA8-EA6C-4E78-95DD-332D1E54B4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Naturaleza (pantalla panorámica)</Template>
  <TotalTime>1308</TotalTime>
  <Words>924</Words>
  <Application>Microsoft Office PowerPoint</Application>
  <PresentationFormat>Personalizado</PresentationFormat>
  <Paragraphs>253</Paragraphs>
  <Slides>16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Cambria</vt:lpstr>
      <vt:lpstr>Perpetua</vt:lpstr>
      <vt:lpstr>Roboto</vt:lpstr>
      <vt:lpstr>Wingdings</vt:lpstr>
      <vt:lpstr>EcoLiving_16x9</vt:lpstr>
      <vt:lpstr>Plataforma low-code con inteligencia artificial para la medición y optimización de la huella de carbono en entornos informáticos</vt:lpstr>
      <vt:lpstr>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low-code con inteligencia artificial para la medición y optimización de la huella de carbono en entornos informáticos.</dc:title>
  <dc:creator>lisandronportillo95@gmail.com</dc:creator>
  <cp:lastModifiedBy>Carlos Lautaro Recce</cp:lastModifiedBy>
  <cp:revision>100</cp:revision>
  <dcterms:created xsi:type="dcterms:W3CDTF">2026-05-05T14:18:44Z</dcterms:created>
  <dcterms:modified xsi:type="dcterms:W3CDTF">2026-06-18T15:49:38Z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0x010100DE95A0C693CEB341887D38A4A2B58B45040072C752107C5A7B47AA91A1EE638E6F1F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